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4677"/>
  </p:normalViewPr>
  <p:slideViewPr>
    <p:cSldViewPr>
      <p:cViewPr varScale="1">
        <p:scale>
          <a:sx n="103" d="100"/>
          <a:sy n="103" d="100"/>
        </p:scale>
        <p:origin x="3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54303-4D4A-D345-B17A-051B36A137C2}" type="datetimeFigureOut">
              <a:rPr kumimoji="1" lang="ko-KR" altLang="en-US" smtClean="0"/>
              <a:t>2024. 5. 16.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301DB-3750-AA42-8079-FA637645F7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142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안녕하십니까 다차원자료분석 </a:t>
            </a:r>
            <a:r>
              <a:rPr kumimoji="1" lang="en-US" altLang="ko-KR" dirty="0"/>
              <a:t>PBL 10</a:t>
            </a:r>
            <a:r>
              <a:rPr kumimoji="1" lang="ko-KR" altLang="en-US" dirty="0"/>
              <a:t>조 </a:t>
            </a:r>
            <a:r>
              <a:rPr kumimoji="1" lang="ko-KR" altLang="en-US" dirty="0" err="1"/>
              <a:t>강승배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이선재</a:t>
            </a:r>
            <a:r>
              <a:rPr kumimoji="1" lang="en-US" altLang="ko-KR" dirty="0"/>
              <a:t>, Wu </a:t>
            </a:r>
            <a:r>
              <a:rPr kumimoji="1" lang="en-US" altLang="ko-KR" dirty="0" err="1"/>
              <a:t>Xinyue</a:t>
            </a:r>
            <a:r>
              <a:rPr kumimoji="1" lang="en-US" altLang="ko-KR" dirty="0"/>
              <a:t> 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제공받은 </a:t>
            </a:r>
            <a:r>
              <a:rPr kumimoji="1" lang="ko-KR" altLang="en-US" dirty="0" err="1"/>
              <a:t>지번별특성정보</a:t>
            </a:r>
            <a:r>
              <a:rPr kumimoji="1" lang="ko-KR" altLang="en-US" dirty="0"/>
              <a:t> 데이터로 저희가 진행할 연구의 주제와 진행 방향에 대해 발표하겠습니다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01DB-3750-AA42-8079-FA637645F74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0261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주제</a:t>
            </a:r>
            <a:r>
              <a:rPr kumimoji="1" lang="en-US" altLang="ko-KR" dirty="0"/>
              <a:t>, </a:t>
            </a:r>
            <a:r>
              <a:rPr kumimoji="1" lang="ko-KR" altLang="en-US" dirty="0"/>
              <a:t>분석 방법론</a:t>
            </a:r>
            <a:r>
              <a:rPr kumimoji="1" lang="en-US" altLang="ko-KR" dirty="0"/>
              <a:t>, </a:t>
            </a:r>
            <a:r>
              <a:rPr kumimoji="1" lang="ko-KR" altLang="en-US" dirty="0"/>
              <a:t>향후 진행 계획 순으로 진행하겠습니다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01DB-3750-AA42-8079-FA637645F745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43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저희는 크게 두 가지 주제를 선정해보았는데요</a:t>
            </a:r>
            <a:r>
              <a:rPr kumimoji="1" lang="en-US" altLang="ko-KR" dirty="0"/>
              <a:t>, </a:t>
            </a:r>
            <a:r>
              <a:rPr kumimoji="1" lang="ko-KR" altLang="en-US" dirty="0"/>
              <a:t>첫 번째는 지번의 군집화 및 군집 별 특성 파악입니다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크게 시 단위로 </a:t>
            </a:r>
            <a:r>
              <a:rPr kumimoji="1" lang="ko-KR" altLang="en-US" dirty="0" err="1"/>
              <a:t>군집화되거나</a:t>
            </a:r>
            <a:r>
              <a:rPr kumimoji="1" lang="ko-KR" altLang="en-US" dirty="0"/>
              <a:t> 지리적 특성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인구 밀도에 따라 </a:t>
            </a:r>
            <a:r>
              <a:rPr kumimoji="1" lang="ko-KR" altLang="en-US" dirty="0" err="1"/>
              <a:t>군집화되기를</a:t>
            </a:r>
            <a:r>
              <a:rPr kumimoji="1" lang="ko-KR" altLang="en-US" dirty="0"/>
              <a:t> 기대하고 있습니다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그리고 두 번째로는 앞선 군집분석 결과를 토대로 군집 별 개별 공시지가 예측 모델을 만들어 보는 것이 목표입니다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01DB-3750-AA42-8079-FA637645F74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6027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해당 연구를 진행함에 있어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저희는 이러한 분석 방법론들을 사용하고자 합니다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첫 번째 주제를 진행하기 전에 주성분분석과 인자분석을 통하여 차원을 축소할 계획입니다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그리고 그 결과를 토대로 군집분석을 진행하고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해당 군집을 반응변수로 하는 판별분석도 수행하겠습니다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마지막으로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선형회귀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릿지회귀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라쏘회귀</a:t>
            </a:r>
            <a:r>
              <a:rPr kumimoji="1" lang="ko-KR" altLang="en-US" dirty="0"/>
              <a:t> 등의 지도학습 방법론을 이용하여 군집별로 개별 공시지가를 목표변수로 한 예측모델을 만들겠습니다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01DB-3750-AA42-8079-FA637645F745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3487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저희의 향후 연구 진행 계획입니다</a:t>
            </a:r>
            <a:r>
              <a:rPr kumimoji="1" lang="en-US" altLang="ko-KR" dirty="0"/>
              <a:t>. </a:t>
            </a:r>
          </a:p>
          <a:p>
            <a:r>
              <a:rPr kumimoji="1" lang="en-US" altLang="ko-KR" dirty="0"/>
              <a:t>1</a:t>
            </a:r>
            <a:r>
              <a:rPr kumimoji="1" lang="ko-KR" altLang="en-US" dirty="0"/>
              <a:t>주차에는 </a:t>
            </a:r>
            <a:r>
              <a:rPr kumimoji="1" lang="en-US" altLang="ko-KR" dirty="0"/>
              <a:t>EDA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데이터의 </a:t>
            </a:r>
            <a:r>
              <a:rPr kumimoji="1" lang="ko-KR" altLang="en-US" dirty="0" err="1"/>
              <a:t>결측값을</a:t>
            </a:r>
            <a:r>
              <a:rPr kumimoji="1" lang="ko-KR" altLang="en-US" dirty="0"/>
              <a:t> 처리하고 이상치를 제거하겠습니다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또한 </a:t>
            </a:r>
            <a:r>
              <a:rPr kumimoji="1" lang="ko-KR" altLang="en-US" dirty="0" err="1"/>
              <a:t>다중공선성을</a:t>
            </a:r>
            <a:r>
              <a:rPr kumimoji="1" lang="ko-KR" altLang="en-US" dirty="0"/>
              <a:t> 확인하고 변수를 제거하거나 합침으로써 이를 해결할 예정입니다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변수의 특징도 살펴볼 것인데</a:t>
            </a:r>
            <a:r>
              <a:rPr kumimoji="1" lang="en-US" altLang="ko-KR" dirty="0"/>
              <a:t>, 1</a:t>
            </a:r>
            <a:r>
              <a:rPr kumimoji="1" lang="ko-KR" altLang="en-US" dirty="0"/>
              <a:t>주차의 </a:t>
            </a:r>
            <a:r>
              <a:rPr kumimoji="1" lang="en-US" altLang="ko-KR" dirty="0"/>
              <a:t>EDA </a:t>
            </a:r>
            <a:r>
              <a:rPr kumimoji="1" lang="ko-KR" altLang="en-US" dirty="0"/>
              <a:t>과정은 박스 플롯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산점도</a:t>
            </a:r>
            <a:r>
              <a:rPr kumimoji="1" lang="en-US" altLang="ko-KR" dirty="0"/>
              <a:t>, </a:t>
            </a:r>
            <a:r>
              <a:rPr kumimoji="1" lang="ko-KR" altLang="en-US" dirty="0"/>
              <a:t>상관행렬</a:t>
            </a:r>
            <a:r>
              <a:rPr kumimoji="1" lang="en-US" altLang="ko-KR" dirty="0"/>
              <a:t>, bar plot, </a:t>
            </a:r>
            <a:r>
              <a:rPr kumimoji="1" lang="ko-KR" altLang="en-US" dirty="0"/>
              <a:t>히스토그램 등 다양한 시각화를 통해 이루어질 예정입니다</a:t>
            </a:r>
            <a:r>
              <a:rPr kumimoji="1" lang="en-US" altLang="ko-KR" dirty="0"/>
              <a:t>. </a:t>
            </a:r>
          </a:p>
          <a:p>
            <a:r>
              <a:rPr kumimoji="1" lang="en-US" altLang="ko-KR" dirty="0"/>
              <a:t>2</a:t>
            </a:r>
            <a:r>
              <a:rPr kumimoji="1" lang="ko-KR" altLang="en-US" dirty="0"/>
              <a:t>주차에는 주성분분석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인자분석을 통해 차원 축소를 진행하고</a:t>
            </a:r>
            <a:r>
              <a:rPr kumimoji="1" lang="en-US" altLang="ko-KR" dirty="0"/>
              <a:t>, 3</a:t>
            </a:r>
            <a:r>
              <a:rPr kumimoji="1" lang="ko-KR" altLang="en-US" dirty="0"/>
              <a:t>주차에는 </a:t>
            </a:r>
            <a:r>
              <a:rPr kumimoji="1" lang="en-US" altLang="ko-KR" dirty="0"/>
              <a:t>k-</a:t>
            </a:r>
            <a:r>
              <a:rPr kumimoji="1" lang="en-US" altLang="ko-KR" dirty="0" err="1"/>
              <a:t>mens</a:t>
            </a:r>
            <a:r>
              <a:rPr kumimoji="1" lang="en-US" altLang="ko-KR" dirty="0"/>
              <a:t> </a:t>
            </a:r>
            <a:r>
              <a:rPr kumimoji="1" lang="ko-KR" altLang="en-US" dirty="0"/>
              <a:t>클러스터링을 통한 군집화 이후 판별분석을 하겠습니다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마지막으로 </a:t>
            </a:r>
            <a:r>
              <a:rPr kumimoji="1" lang="ko-KR" altLang="en-US" dirty="0" err="1"/>
              <a:t>군집별</a:t>
            </a:r>
            <a:r>
              <a:rPr kumimoji="1" lang="ko-KR" altLang="en-US" dirty="0"/>
              <a:t> 개별공시지가 예측모델을 만들고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연구에 대한 피드백 및 개선 방안에 대하여 살펴보겠습니다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01DB-3750-AA42-8079-FA637645F745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9676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01DB-3750-AA42-8079-FA637645F745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2959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0.pn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image" Target="../media/image25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8.png"/><Relationship Id="rId5" Type="http://schemas.openxmlformats.org/officeDocument/2006/relationships/image" Target="../media/image19.png"/><Relationship Id="rId10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4512" y="-38095"/>
            <a:ext cx="2510235" cy="2143243"/>
            <a:chOff x="-34512" y="-38095"/>
            <a:chExt cx="2510235" cy="214324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4512" y="-38095"/>
              <a:ext cx="2510235" cy="214324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70834" y="1324237"/>
            <a:ext cx="1476935" cy="1494427"/>
            <a:chOff x="1170834" y="1324237"/>
            <a:chExt cx="1476935" cy="1494427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882191" y="730182"/>
              <a:ext cx="51394" cy="1474109"/>
              <a:chOff x="1882191" y="730182"/>
              <a:chExt cx="51394" cy="147410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730182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882191" y="850703"/>
              <a:ext cx="51394" cy="1474109"/>
              <a:chOff x="1882191" y="850703"/>
              <a:chExt cx="51394" cy="1474109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850703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882191" y="971224"/>
              <a:ext cx="51394" cy="1474109"/>
              <a:chOff x="1882191" y="971224"/>
              <a:chExt cx="51394" cy="1474109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971224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882191" y="1091745"/>
              <a:ext cx="51394" cy="1474109"/>
              <a:chOff x="1882191" y="1091745"/>
              <a:chExt cx="51394" cy="1474109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091745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882191" y="1332787"/>
              <a:ext cx="51394" cy="1474109"/>
              <a:chOff x="1882191" y="1332787"/>
              <a:chExt cx="51394" cy="1474109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332787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882191" y="1573829"/>
              <a:ext cx="51394" cy="1474109"/>
              <a:chOff x="1882191" y="1573829"/>
              <a:chExt cx="51394" cy="1474109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573829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882191" y="1814870"/>
              <a:ext cx="51394" cy="1474109"/>
              <a:chOff x="1882191" y="1814870"/>
              <a:chExt cx="51394" cy="1474109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814870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882191" y="1212266"/>
              <a:ext cx="51394" cy="1474109"/>
              <a:chOff x="1882191" y="1212266"/>
              <a:chExt cx="51394" cy="1474109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212266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882191" y="1453308"/>
              <a:ext cx="51394" cy="1474109"/>
              <a:chOff x="1882191" y="1453308"/>
              <a:chExt cx="51394" cy="1474109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453308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882191" y="1694350"/>
              <a:ext cx="51394" cy="1474109"/>
              <a:chOff x="1882191" y="1694350"/>
              <a:chExt cx="51394" cy="1474109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694350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882191" y="1935391"/>
              <a:ext cx="51394" cy="1474109"/>
              <a:chOff x="1882191" y="1935391"/>
              <a:chExt cx="51394" cy="1474109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935391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882191" y="2055912"/>
              <a:ext cx="51394" cy="1474109"/>
              <a:chOff x="1882191" y="2055912"/>
              <a:chExt cx="51394" cy="1474109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2055912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885018" y="612880"/>
              <a:ext cx="51394" cy="1474109"/>
              <a:chOff x="1885018" y="612880"/>
              <a:chExt cx="51394" cy="1474109"/>
            </a:xfrm>
          </p:grpSpPr>
          <p:pic>
            <p:nvPicPr>
              <p:cNvPr id="43" name="Object 4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5018" y="612880"/>
                <a:ext cx="51394" cy="1474109"/>
              </a:xfrm>
              <a:prstGeom prst="rect">
                <a:avLst/>
              </a:prstGeom>
            </p:spPr>
          </p:pic>
        </p:grpSp>
      </p:grpSp>
      <p:grpSp>
        <p:nvGrpSpPr>
          <p:cNvPr id="1016" name="그룹 1016"/>
          <p:cNvGrpSpPr/>
          <p:nvPr/>
        </p:nvGrpSpPr>
        <p:grpSpPr>
          <a:xfrm>
            <a:off x="15090892" y="5850651"/>
            <a:ext cx="4508822" cy="4446785"/>
            <a:chOff x="15090892" y="5850651"/>
            <a:chExt cx="4508822" cy="4446785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90892" y="5850651"/>
              <a:ext cx="4508822" cy="4446785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0" y="0"/>
            <a:ext cx="18285714" cy="209524"/>
            <a:chOff x="0" y="0"/>
            <a:chExt cx="18285714" cy="209524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5714" cy="209524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5215661" y="6594747"/>
            <a:ext cx="1880230" cy="1902498"/>
            <a:chOff x="15215661" y="6594747"/>
            <a:chExt cx="1880230" cy="1902498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16121263" y="5838479"/>
              <a:ext cx="65428" cy="1876631"/>
              <a:chOff x="16121263" y="5838479"/>
              <a:chExt cx="65428" cy="1876631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5838479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0" name="그룹 1020"/>
            <p:cNvGrpSpPr/>
            <p:nvPr/>
          </p:nvGrpSpPr>
          <p:grpSpPr>
            <a:xfrm>
              <a:off x="16121263" y="5991910"/>
              <a:ext cx="65428" cy="1876631"/>
              <a:chOff x="16121263" y="5991910"/>
              <a:chExt cx="65428" cy="1876631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5991910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16121263" y="6145340"/>
              <a:ext cx="65428" cy="1876631"/>
              <a:chOff x="16121263" y="6145340"/>
              <a:chExt cx="65428" cy="1876631"/>
            </a:xfrm>
          </p:grpSpPr>
          <p:pic>
            <p:nvPicPr>
              <p:cNvPr id="60" name="Object 59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145340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16121263" y="6298771"/>
              <a:ext cx="65428" cy="1876631"/>
              <a:chOff x="16121263" y="6298771"/>
              <a:chExt cx="65428" cy="1876631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298771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16121263" y="6605632"/>
              <a:ext cx="65428" cy="1876631"/>
              <a:chOff x="16121263" y="6605632"/>
              <a:chExt cx="65428" cy="1876631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605632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16121263" y="6912493"/>
              <a:ext cx="65428" cy="1876631"/>
              <a:chOff x="16121263" y="6912493"/>
              <a:chExt cx="65428" cy="1876631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912493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16121263" y="7219354"/>
              <a:ext cx="65428" cy="1876631"/>
              <a:chOff x="16121263" y="7219354"/>
              <a:chExt cx="65428" cy="1876631"/>
            </a:xfrm>
          </p:grpSpPr>
          <p:pic>
            <p:nvPicPr>
              <p:cNvPr id="72" name="Object 7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219354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6" name="그룹 1026"/>
            <p:cNvGrpSpPr/>
            <p:nvPr/>
          </p:nvGrpSpPr>
          <p:grpSpPr>
            <a:xfrm>
              <a:off x="16121263" y="6452201"/>
              <a:ext cx="65428" cy="1876631"/>
              <a:chOff x="16121263" y="6452201"/>
              <a:chExt cx="65428" cy="1876631"/>
            </a:xfrm>
          </p:grpSpPr>
          <p:pic>
            <p:nvPicPr>
              <p:cNvPr id="75" name="Object 7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452201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7" name="그룹 1027"/>
            <p:cNvGrpSpPr/>
            <p:nvPr/>
          </p:nvGrpSpPr>
          <p:grpSpPr>
            <a:xfrm>
              <a:off x="16121263" y="6759063"/>
              <a:ext cx="65428" cy="1876631"/>
              <a:chOff x="16121263" y="6759063"/>
              <a:chExt cx="65428" cy="1876631"/>
            </a:xfrm>
          </p:grpSpPr>
          <p:pic>
            <p:nvPicPr>
              <p:cNvPr id="78" name="Object 7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759063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8" name="그룹 1028"/>
            <p:cNvGrpSpPr/>
            <p:nvPr/>
          </p:nvGrpSpPr>
          <p:grpSpPr>
            <a:xfrm>
              <a:off x="16121263" y="7065924"/>
              <a:ext cx="65428" cy="1876631"/>
              <a:chOff x="16121263" y="7065924"/>
              <a:chExt cx="65428" cy="1876631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065924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9" name="그룹 1029"/>
            <p:cNvGrpSpPr/>
            <p:nvPr/>
          </p:nvGrpSpPr>
          <p:grpSpPr>
            <a:xfrm>
              <a:off x="16121263" y="7372785"/>
              <a:ext cx="65428" cy="1876631"/>
              <a:chOff x="16121263" y="7372785"/>
              <a:chExt cx="65428" cy="1876631"/>
            </a:xfrm>
          </p:grpSpPr>
          <p:pic>
            <p:nvPicPr>
              <p:cNvPr id="84" name="Object 83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372785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30" name="그룹 1030"/>
            <p:cNvGrpSpPr/>
            <p:nvPr/>
          </p:nvGrpSpPr>
          <p:grpSpPr>
            <a:xfrm>
              <a:off x="16121263" y="7526216"/>
              <a:ext cx="65428" cy="1876631"/>
              <a:chOff x="16121263" y="7526216"/>
              <a:chExt cx="65428" cy="1876631"/>
            </a:xfrm>
          </p:grpSpPr>
          <p:pic>
            <p:nvPicPr>
              <p:cNvPr id="87" name="Object 8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526216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31" name="그룹 1031"/>
            <p:cNvGrpSpPr/>
            <p:nvPr/>
          </p:nvGrpSpPr>
          <p:grpSpPr>
            <a:xfrm>
              <a:off x="16124861" y="5689146"/>
              <a:ext cx="65428" cy="1876631"/>
              <a:chOff x="16124861" y="5689146"/>
              <a:chExt cx="65428" cy="1876631"/>
            </a:xfrm>
          </p:grpSpPr>
          <p:pic>
            <p:nvPicPr>
              <p:cNvPr id="90" name="Object 89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4861" y="5689146"/>
                <a:ext cx="65428" cy="1876631"/>
              </a:xfrm>
              <a:prstGeom prst="rect">
                <a:avLst/>
              </a:prstGeom>
            </p:spPr>
          </p:pic>
        </p:grpSp>
      </p:grpSp>
      <p:grpSp>
        <p:nvGrpSpPr>
          <p:cNvPr id="1032" name="그룹 1032"/>
          <p:cNvGrpSpPr/>
          <p:nvPr/>
        </p:nvGrpSpPr>
        <p:grpSpPr>
          <a:xfrm>
            <a:off x="0" y="9343101"/>
            <a:ext cx="18285714" cy="999756"/>
            <a:chOff x="0" y="9343101"/>
            <a:chExt cx="18285714" cy="999756"/>
          </a:xfrm>
        </p:grpSpPr>
        <p:pic>
          <p:nvPicPr>
            <p:cNvPr id="94" name="Object 9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9343101"/>
              <a:ext cx="18285714" cy="999756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-1058738" y="3845349"/>
            <a:ext cx="20403190" cy="26168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800" dirty="0">
                <a:solidFill>
                  <a:srgbClr val="404040"/>
                </a:solidFill>
                <a:latin typeface="Pretendard" pitchFamily="34" charset="0"/>
                <a:cs typeface="Pretendard" pitchFamily="34" charset="0"/>
              </a:rPr>
              <a:t>1차 발표</a:t>
            </a:r>
            <a:endParaRPr lang="en-US" dirty="0"/>
          </a:p>
        </p:txBody>
      </p:sp>
      <p:grpSp>
        <p:nvGrpSpPr>
          <p:cNvPr id="1033" name="그룹 1033"/>
          <p:cNvGrpSpPr/>
          <p:nvPr/>
        </p:nvGrpSpPr>
        <p:grpSpPr>
          <a:xfrm>
            <a:off x="7371367" y="3304100"/>
            <a:ext cx="3619048" cy="14286"/>
            <a:chOff x="7371367" y="3304100"/>
            <a:chExt cx="3619048" cy="14286"/>
          </a:xfrm>
        </p:grpSpPr>
        <p:pic>
          <p:nvPicPr>
            <p:cNvPr id="98" name="Object 9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71367" y="3304100"/>
              <a:ext cx="3619048" cy="14286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7375661" y="3956070"/>
            <a:ext cx="3619048" cy="17388"/>
            <a:chOff x="7375661" y="3956070"/>
            <a:chExt cx="3619048" cy="17388"/>
          </a:xfrm>
        </p:grpSpPr>
        <p:pic>
          <p:nvPicPr>
            <p:cNvPr id="101" name="Object 10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75661" y="3956070"/>
              <a:ext cx="3619048" cy="17388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6559263" y="3335559"/>
            <a:ext cx="5317382" cy="6323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kern="0" spc="1100" dirty="0">
                <a:solidFill>
                  <a:srgbClr val="404040"/>
                </a:solidFill>
                <a:latin typeface="Pretendard ExtraLight" pitchFamily="34" charset="0"/>
                <a:cs typeface="Pretendard ExtraLight" pitchFamily="34" charset="0"/>
              </a:rPr>
              <a:t>다차원자료분석PBL</a:t>
            </a:r>
            <a:endParaRPr lang="en-US" dirty="0"/>
          </a:p>
        </p:txBody>
      </p:sp>
      <p:sp>
        <p:nvSpPr>
          <p:cNvPr id="104" name="Object 104"/>
          <p:cNvSpPr txBox="1"/>
          <p:nvPr/>
        </p:nvSpPr>
        <p:spPr>
          <a:xfrm>
            <a:off x="4557143" y="8091824"/>
            <a:ext cx="9171429" cy="5857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200" dirty="0">
                <a:solidFill>
                  <a:srgbClr val="404040"/>
                </a:solidFill>
                <a:latin typeface="Pretendard ExtraLight" pitchFamily="34" charset="0"/>
                <a:cs typeface="Pretendard ExtraLight" pitchFamily="34" charset="0"/>
              </a:rPr>
              <a:t>강승배, 이선재, WU XINYUE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4512" y="-38095"/>
            <a:ext cx="2510235" cy="2143243"/>
            <a:chOff x="-34512" y="-38095"/>
            <a:chExt cx="2510235" cy="214324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4512" y="-38095"/>
              <a:ext cx="2510235" cy="214324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5579696" y="7628650"/>
            <a:ext cx="2706018" cy="2668786"/>
            <a:chOff x="15579696" y="7628650"/>
            <a:chExt cx="2706018" cy="26687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79696" y="7628650"/>
              <a:ext cx="2706018" cy="26687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0" y="6803"/>
            <a:ext cx="18285714" cy="95238"/>
            <a:chOff x="0" y="6803"/>
            <a:chExt cx="18285714" cy="952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803"/>
              <a:ext cx="18285714" cy="952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6836241" y="6640638"/>
            <a:ext cx="1468521" cy="1485913"/>
            <a:chOff x="16836241" y="6640638"/>
            <a:chExt cx="1468521" cy="1485913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17543546" y="6049968"/>
              <a:ext cx="51101" cy="1465710"/>
              <a:chOff x="17543546" y="6049968"/>
              <a:chExt cx="51101" cy="1465710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049968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7543546" y="6169802"/>
              <a:ext cx="51101" cy="1465710"/>
              <a:chOff x="17543546" y="6169802"/>
              <a:chExt cx="51101" cy="1465710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169802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7543546" y="6289636"/>
              <a:ext cx="51101" cy="1465710"/>
              <a:chOff x="17543546" y="6289636"/>
              <a:chExt cx="51101" cy="1465710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289636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7543546" y="6409471"/>
              <a:ext cx="51101" cy="1465710"/>
              <a:chOff x="17543546" y="6409471"/>
              <a:chExt cx="51101" cy="1465710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409471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7543546" y="6649139"/>
              <a:ext cx="51101" cy="1465710"/>
              <a:chOff x="17543546" y="6649139"/>
              <a:chExt cx="51101" cy="1465710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649139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7543546" y="6888808"/>
              <a:ext cx="51101" cy="1465710"/>
              <a:chOff x="17543546" y="6888808"/>
              <a:chExt cx="51101" cy="1465710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888808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7543546" y="7128476"/>
              <a:ext cx="51101" cy="1465710"/>
              <a:chOff x="17543546" y="7128476"/>
              <a:chExt cx="51101" cy="1465710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7128476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7543546" y="6529305"/>
              <a:ext cx="51101" cy="1465710"/>
              <a:chOff x="17543546" y="6529305"/>
              <a:chExt cx="51101" cy="1465710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529305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7543546" y="6768974"/>
              <a:ext cx="51101" cy="1465710"/>
              <a:chOff x="17543546" y="6768974"/>
              <a:chExt cx="51101" cy="1465710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6768974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7543546" y="7008642"/>
              <a:ext cx="51101" cy="1465710"/>
              <a:chOff x="17543546" y="7008642"/>
              <a:chExt cx="51101" cy="1465710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7008642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7543546" y="7248311"/>
              <a:ext cx="51101" cy="1465710"/>
              <a:chOff x="17543546" y="7248311"/>
              <a:chExt cx="51101" cy="1465710"/>
            </a:xfrm>
          </p:grpSpPr>
          <p:pic>
            <p:nvPicPr>
              <p:cNvPr id="43" name="Object 4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7248311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17543546" y="7368145"/>
              <a:ext cx="51101" cy="1465710"/>
              <a:chOff x="17543546" y="7368145"/>
              <a:chExt cx="51101" cy="1465710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3546" y="7368145"/>
                <a:ext cx="51101" cy="1465710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17546356" y="5933334"/>
              <a:ext cx="51101" cy="1465710"/>
              <a:chOff x="17546356" y="5933334"/>
              <a:chExt cx="51101" cy="1465710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7546356" y="5933334"/>
                <a:ext cx="51101" cy="1465710"/>
              </a:xfrm>
              <a:prstGeom prst="rect">
                <a:avLst/>
              </a:prstGeom>
            </p:spPr>
          </p:pic>
        </p:grpSp>
      </p:grpSp>
      <p:grpSp>
        <p:nvGrpSpPr>
          <p:cNvPr id="1018" name="그룹 1018"/>
          <p:cNvGrpSpPr/>
          <p:nvPr/>
        </p:nvGrpSpPr>
        <p:grpSpPr>
          <a:xfrm>
            <a:off x="0" y="9696222"/>
            <a:ext cx="18285714" cy="618064"/>
            <a:chOff x="0" y="9696222"/>
            <a:chExt cx="18285714" cy="618064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9696222"/>
              <a:ext cx="18285714" cy="618064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753945" y="1131505"/>
            <a:ext cx="1331770" cy="1347542"/>
            <a:chOff x="753945" y="1131505"/>
            <a:chExt cx="1331770" cy="1347542"/>
          </a:xfrm>
        </p:grpSpPr>
        <p:grpSp>
          <p:nvGrpSpPr>
            <p:cNvPr id="1020" name="그룹 1020"/>
            <p:cNvGrpSpPr/>
            <p:nvPr/>
          </p:nvGrpSpPr>
          <p:grpSpPr>
            <a:xfrm>
              <a:off x="1395384" y="595839"/>
              <a:ext cx="46343" cy="1329221"/>
              <a:chOff x="1395384" y="595839"/>
              <a:chExt cx="46343" cy="1329221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595839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1395384" y="704514"/>
              <a:ext cx="46343" cy="1329221"/>
              <a:chOff x="1395384" y="704514"/>
              <a:chExt cx="46343" cy="1329221"/>
            </a:xfrm>
          </p:grpSpPr>
          <p:pic>
            <p:nvPicPr>
              <p:cNvPr id="60" name="Object 5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704514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1395384" y="813190"/>
              <a:ext cx="46343" cy="1329221"/>
              <a:chOff x="1395384" y="813190"/>
              <a:chExt cx="46343" cy="1329221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813190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1395384" y="921865"/>
              <a:ext cx="46343" cy="1329221"/>
              <a:chOff x="1395384" y="921865"/>
              <a:chExt cx="46343" cy="1329221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921865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1395384" y="1139215"/>
              <a:ext cx="46343" cy="1329221"/>
              <a:chOff x="1395384" y="1139215"/>
              <a:chExt cx="46343" cy="1329221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139215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1395384" y="1356565"/>
              <a:ext cx="46343" cy="1329221"/>
              <a:chOff x="1395384" y="1356565"/>
              <a:chExt cx="46343" cy="1329221"/>
            </a:xfrm>
          </p:grpSpPr>
          <p:pic>
            <p:nvPicPr>
              <p:cNvPr id="72" name="Object 7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356565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6" name="그룹 1026"/>
            <p:cNvGrpSpPr/>
            <p:nvPr/>
          </p:nvGrpSpPr>
          <p:grpSpPr>
            <a:xfrm>
              <a:off x="1395384" y="1573915"/>
              <a:ext cx="46343" cy="1329221"/>
              <a:chOff x="1395384" y="1573915"/>
              <a:chExt cx="46343" cy="1329221"/>
            </a:xfrm>
          </p:grpSpPr>
          <p:pic>
            <p:nvPicPr>
              <p:cNvPr id="75" name="Object 74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573915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7" name="그룹 1027"/>
            <p:cNvGrpSpPr/>
            <p:nvPr/>
          </p:nvGrpSpPr>
          <p:grpSpPr>
            <a:xfrm>
              <a:off x="1395384" y="1030540"/>
              <a:ext cx="46343" cy="1329221"/>
              <a:chOff x="1395384" y="1030540"/>
              <a:chExt cx="46343" cy="1329221"/>
            </a:xfrm>
          </p:grpSpPr>
          <p:pic>
            <p:nvPicPr>
              <p:cNvPr id="78" name="Object 7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030540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8" name="그룹 1028"/>
            <p:cNvGrpSpPr/>
            <p:nvPr/>
          </p:nvGrpSpPr>
          <p:grpSpPr>
            <a:xfrm>
              <a:off x="1395384" y="1247890"/>
              <a:ext cx="46343" cy="1329221"/>
              <a:chOff x="1395384" y="1247890"/>
              <a:chExt cx="46343" cy="1329221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247890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29" name="그룹 1029"/>
            <p:cNvGrpSpPr/>
            <p:nvPr/>
          </p:nvGrpSpPr>
          <p:grpSpPr>
            <a:xfrm>
              <a:off x="1395384" y="1465240"/>
              <a:ext cx="46343" cy="1329221"/>
              <a:chOff x="1395384" y="1465240"/>
              <a:chExt cx="46343" cy="1329221"/>
            </a:xfrm>
          </p:grpSpPr>
          <p:pic>
            <p:nvPicPr>
              <p:cNvPr id="84" name="Object 83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465240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30" name="그룹 1030"/>
            <p:cNvGrpSpPr/>
            <p:nvPr/>
          </p:nvGrpSpPr>
          <p:grpSpPr>
            <a:xfrm>
              <a:off x="1395384" y="1682591"/>
              <a:ext cx="46343" cy="1329221"/>
              <a:chOff x="1395384" y="1682591"/>
              <a:chExt cx="46343" cy="1329221"/>
            </a:xfrm>
          </p:grpSpPr>
          <p:pic>
            <p:nvPicPr>
              <p:cNvPr id="87" name="Object 86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682591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31" name="그룹 1031"/>
            <p:cNvGrpSpPr/>
            <p:nvPr/>
          </p:nvGrpSpPr>
          <p:grpSpPr>
            <a:xfrm>
              <a:off x="1395384" y="1791266"/>
              <a:ext cx="46343" cy="1329221"/>
              <a:chOff x="1395384" y="1791266"/>
              <a:chExt cx="46343" cy="1329221"/>
            </a:xfrm>
          </p:grpSpPr>
          <p:pic>
            <p:nvPicPr>
              <p:cNvPr id="90" name="Object 8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5384" y="1791266"/>
                <a:ext cx="46343" cy="1329221"/>
              </a:xfrm>
              <a:prstGeom prst="rect">
                <a:avLst/>
              </a:prstGeom>
            </p:spPr>
          </p:pic>
        </p:grpSp>
        <p:grpSp>
          <p:nvGrpSpPr>
            <p:cNvPr id="1032" name="그룹 1032"/>
            <p:cNvGrpSpPr/>
            <p:nvPr/>
          </p:nvGrpSpPr>
          <p:grpSpPr>
            <a:xfrm>
              <a:off x="1397933" y="490066"/>
              <a:ext cx="46343" cy="1329221"/>
              <a:chOff x="1397933" y="490066"/>
              <a:chExt cx="46343" cy="1329221"/>
            </a:xfrm>
          </p:grpSpPr>
          <p:pic>
            <p:nvPicPr>
              <p:cNvPr id="93" name="Object 9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1397933" y="490066"/>
                <a:ext cx="46343" cy="1329221"/>
              </a:xfrm>
              <a:prstGeom prst="rect">
                <a:avLst/>
              </a:prstGeom>
            </p:spPr>
          </p:pic>
        </p:grpSp>
      </p:grpSp>
      <p:sp>
        <p:nvSpPr>
          <p:cNvPr id="96" name="Object 96"/>
          <p:cNvSpPr txBox="1"/>
          <p:nvPr/>
        </p:nvSpPr>
        <p:spPr>
          <a:xfrm>
            <a:off x="5369895" y="1366297"/>
            <a:ext cx="7630013" cy="1866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solidFill>
                  <a:srgbClr val="404040"/>
                </a:solidFill>
                <a:latin typeface="Pretendard" pitchFamily="34" charset="0"/>
                <a:cs typeface="Pretendard" pitchFamily="34" charset="0"/>
              </a:rPr>
              <a:t>목차</a:t>
            </a:r>
            <a:endParaRPr lang="en-US" dirty="0"/>
          </a:p>
        </p:txBody>
      </p:sp>
      <p:grpSp>
        <p:nvGrpSpPr>
          <p:cNvPr id="1033" name="그룹 1033"/>
          <p:cNvGrpSpPr/>
          <p:nvPr/>
        </p:nvGrpSpPr>
        <p:grpSpPr>
          <a:xfrm>
            <a:off x="8228510" y="886701"/>
            <a:ext cx="1909056" cy="563045"/>
            <a:chOff x="8228510" y="886701"/>
            <a:chExt cx="1909056" cy="563045"/>
          </a:xfrm>
        </p:grpSpPr>
        <p:grpSp>
          <p:nvGrpSpPr>
            <p:cNvPr id="1034" name="그룹 1034"/>
            <p:cNvGrpSpPr/>
            <p:nvPr/>
          </p:nvGrpSpPr>
          <p:grpSpPr>
            <a:xfrm>
              <a:off x="8228510" y="886701"/>
              <a:ext cx="1904762" cy="14286"/>
              <a:chOff x="8228510" y="886701"/>
              <a:chExt cx="1904762" cy="14286"/>
            </a:xfrm>
          </p:grpSpPr>
          <p:pic>
            <p:nvPicPr>
              <p:cNvPr id="99" name="Object 98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28510" y="886701"/>
                <a:ext cx="1904762" cy="14286"/>
              </a:xfrm>
              <a:prstGeom prst="rect">
                <a:avLst/>
              </a:prstGeom>
            </p:spPr>
          </p:pic>
        </p:grpSp>
        <p:grpSp>
          <p:nvGrpSpPr>
            <p:cNvPr id="1035" name="그룹 1035"/>
            <p:cNvGrpSpPr/>
            <p:nvPr/>
          </p:nvGrpSpPr>
          <p:grpSpPr>
            <a:xfrm>
              <a:off x="8232804" y="1435461"/>
              <a:ext cx="1904762" cy="14286"/>
              <a:chOff x="8232804" y="1435461"/>
              <a:chExt cx="1904762" cy="14286"/>
            </a:xfrm>
          </p:grpSpPr>
          <p:pic>
            <p:nvPicPr>
              <p:cNvPr id="102" name="Object 101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32804" y="1435461"/>
                <a:ext cx="1904762" cy="14286"/>
              </a:xfrm>
              <a:prstGeom prst="rect">
                <a:avLst/>
              </a:prstGeom>
            </p:spPr>
          </p:pic>
        </p:grpSp>
        <p:sp>
          <p:nvSpPr>
            <p:cNvPr id="104" name="Object 104"/>
            <p:cNvSpPr txBox="1"/>
            <p:nvPr/>
          </p:nvSpPr>
          <p:spPr>
            <a:xfrm>
              <a:off x="7752319" y="888155"/>
              <a:ext cx="2857143" cy="58380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200" kern="0" spc="400" dirty="0">
                  <a:solidFill>
                    <a:srgbClr val="404040"/>
                  </a:solidFill>
                  <a:latin typeface="Pretendard ExtraLight" pitchFamily="34" charset="0"/>
                  <a:cs typeface="Pretendard ExtraLight" pitchFamily="34" charset="0"/>
                </a:rPr>
                <a:t>CONTENTS</a:t>
              </a:r>
              <a:endParaRPr lang="en-US" dirty="0"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7952100" y="9758603"/>
            <a:ext cx="2381515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grpSp>
        <p:nvGrpSpPr>
          <p:cNvPr id="1036" name="그룹 1036"/>
          <p:cNvGrpSpPr/>
          <p:nvPr/>
        </p:nvGrpSpPr>
        <p:grpSpPr>
          <a:xfrm>
            <a:off x="975832" y="4962878"/>
            <a:ext cx="14930845" cy="668245"/>
            <a:chOff x="975832" y="4962878"/>
            <a:chExt cx="14930845" cy="668245"/>
          </a:xfrm>
        </p:grpSpPr>
        <p:sp>
          <p:nvSpPr>
            <p:cNvPr id="108" name="Object 108"/>
            <p:cNvSpPr txBox="1"/>
            <p:nvPr/>
          </p:nvSpPr>
          <p:spPr>
            <a:xfrm>
              <a:off x="1818893" y="4811133"/>
              <a:ext cx="4665962" cy="93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5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  주제</a:t>
              </a:r>
              <a:endParaRPr lang="en-US" dirty="0"/>
            </a:p>
          </p:txBody>
        </p:sp>
        <p:grpSp>
          <p:nvGrpSpPr>
            <p:cNvPr id="1037" name="그룹 1037"/>
            <p:cNvGrpSpPr/>
            <p:nvPr/>
          </p:nvGrpSpPr>
          <p:grpSpPr>
            <a:xfrm>
              <a:off x="975832" y="4970427"/>
              <a:ext cx="660696" cy="660696"/>
              <a:chOff x="975832" y="4970427"/>
              <a:chExt cx="660696" cy="660696"/>
            </a:xfrm>
          </p:grpSpPr>
          <p:grpSp>
            <p:nvGrpSpPr>
              <p:cNvPr id="1038" name="그룹 1038"/>
              <p:cNvGrpSpPr/>
              <p:nvPr/>
            </p:nvGrpSpPr>
            <p:grpSpPr>
              <a:xfrm>
                <a:off x="975832" y="4970427"/>
                <a:ext cx="660696" cy="660696"/>
                <a:chOff x="975832" y="4970427"/>
                <a:chExt cx="660696" cy="660696"/>
              </a:xfrm>
            </p:grpSpPr>
            <p:pic>
              <p:nvPicPr>
                <p:cNvPr id="111" name="Object 110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975832" y="4970427"/>
                  <a:ext cx="660696" cy="660696"/>
                </a:xfrm>
                <a:prstGeom prst="rect">
                  <a:avLst/>
                </a:prstGeom>
              </p:spPr>
            </p:pic>
          </p:grpSp>
          <p:sp>
            <p:nvSpPr>
              <p:cNvPr id="113" name="Object 113"/>
              <p:cNvSpPr txBox="1"/>
              <p:nvPr/>
            </p:nvSpPr>
            <p:spPr>
              <a:xfrm>
                <a:off x="939795" y="5005961"/>
                <a:ext cx="721871" cy="60234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200" dirty="0">
                    <a:solidFill>
                      <a:srgbClr val="FFFFFF"/>
                    </a:solidFill>
                    <a:latin typeface="Pretendard Medium" pitchFamily="34" charset="0"/>
                    <a:cs typeface="Pretendard Medium" pitchFamily="34" charset="0"/>
                  </a:rPr>
                  <a:t>01</a:t>
                </a:r>
                <a:endParaRPr lang="en-US" dirty="0"/>
              </a:p>
            </p:txBody>
          </p:sp>
        </p:grpSp>
        <p:sp>
          <p:nvSpPr>
            <p:cNvPr id="115" name="Object 115"/>
            <p:cNvSpPr txBox="1"/>
            <p:nvPr/>
          </p:nvSpPr>
          <p:spPr>
            <a:xfrm>
              <a:off x="7264607" y="4809228"/>
              <a:ext cx="4665962" cy="93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5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  분석 방법론</a:t>
              </a:r>
              <a:endParaRPr lang="en-US" dirty="0"/>
            </a:p>
          </p:txBody>
        </p:sp>
        <p:grpSp>
          <p:nvGrpSpPr>
            <p:cNvPr id="1039" name="그룹 1039"/>
            <p:cNvGrpSpPr/>
            <p:nvPr/>
          </p:nvGrpSpPr>
          <p:grpSpPr>
            <a:xfrm>
              <a:off x="6437501" y="4968787"/>
              <a:ext cx="660696" cy="660696"/>
              <a:chOff x="6437501" y="4968787"/>
              <a:chExt cx="660696" cy="660696"/>
            </a:xfrm>
          </p:grpSpPr>
          <p:grpSp>
            <p:nvGrpSpPr>
              <p:cNvPr id="1040" name="그룹 1040"/>
              <p:cNvGrpSpPr/>
              <p:nvPr/>
            </p:nvGrpSpPr>
            <p:grpSpPr>
              <a:xfrm>
                <a:off x="6437501" y="4968787"/>
                <a:ext cx="660696" cy="660696"/>
                <a:chOff x="6437501" y="4968787"/>
                <a:chExt cx="660696" cy="660696"/>
              </a:xfrm>
            </p:grpSpPr>
            <p:pic>
              <p:nvPicPr>
                <p:cNvPr id="118" name="Object 117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6437501" y="4968787"/>
                  <a:ext cx="660696" cy="660696"/>
                </a:xfrm>
                <a:prstGeom prst="rect">
                  <a:avLst/>
                </a:prstGeom>
              </p:spPr>
            </p:pic>
          </p:grpSp>
          <p:sp>
            <p:nvSpPr>
              <p:cNvPr id="120" name="Object 120"/>
              <p:cNvSpPr txBox="1"/>
              <p:nvPr/>
            </p:nvSpPr>
            <p:spPr>
              <a:xfrm>
                <a:off x="6401464" y="5004322"/>
                <a:ext cx="721871" cy="6023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200" dirty="0">
                    <a:solidFill>
                      <a:srgbClr val="FFFFFF"/>
                    </a:solidFill>
                    <a:latin typeface="Pretendard Medium" pitchFamily="34" charset="0"/>
                    <a:cs typeface="Pretendard Medium" pitchFamily="34" charset="0"/>
                  </a:rPr>
                  <a:t>02</a:t>
                </a:r>
                <a:endParaRPr lang="en-US" dirty="0"/>
              </a:p>
            </p:txBody>
          </p:sp>
        </p:grpSp>
        <p:sp>
          <p:nvSpPr>
            <p:cNvPr id="122" name="Object 122"/>
            <p:cNvSpPr txBox="1"/>
            <p:nvPr/>
          </p:nvSpPr>
          <p:spPr>
            <a:xfrm>
              <a:off x="12796035" y="4807323"/>
              <a:ext cx="4665962" cy="93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5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  향후 진행 계획</a:t>
              </a:r>
              <a:endParaRPr lang="en-US" dirty="0"/>
            </a:p>
          </p:txBody>
        </p:sp>
        <p:grpSp>
          <p:nvGrpSpPr>
            <p:cNvPr id="1041" name="그룹 1041"/>
            <p:cNvGrpSpPr/>
            <p:nvPr/>
          </p:nvGrpSpPr>
          <p:grpSpPr>
            <a:xfrm>
              <a:off x="11978262" y="4967147"/>
              <a:ext cx="660696" cy="660696"/>
              <a:chOff x="11978262" y="4967147"/>
              <a:chExt cx="660696" cy="660696"/>
            </a:xfrm>
          </p:grpSpPr>
          <p:grpSp>
            <p:nvGrpSpPr>
              <p:cNvPr id="1042" name="그룹 1042"/>
              <p:cNvGrpSpPr/>
              <p:nvPr/>
            </p:nvGrpSpPr>
            <p:grpSpPr>
              <a:xfrm>
                <a:off x="11978262" y="4967147"/>
                <a:ext cx="660696" cy="660696"/>
                <a:chOff x="11978262" y="4967147"/>
                <a:chExt cx="660696" cy="660696"/>
              </a:xfrm>
            </p:grpSpPr>
            <p:pic>
              <p:nvPicPr>
                <p:cNvPr id="125" name="Object 124"/>
                <p:cNvPicPr>
                  <a:picLocks noChangeAspect="1"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11978262" y="4967147"/>
                  <a:ext cx="660696" cy="660696"/>
                </a:xfrm>
                <a:prstGeom prst="rect">
                  <a:avLst/>
                </a:prstGeom>
              </p:spPr>
            </p:pic>
          </p:grpSp>
          <p:sp>
            <p:nvSpPr>
              <p:cNvPr id="127" name="Object 127"/>
              <p:cNvSpPr txBox="1"/>
              <p:nvPr/>
            </p:nvSpPr>
            <p:spPr>
              <a:xfrm>
                <a:off x="11942225" y="5002682"/>
                <a:ext cx="721871" cy="6023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200" dirty="0">
                    <a:solidFill>
                      <a:srgbClr val="FFFFFF"/>
                    </a:solidFill>
                    <a:latin typeface="Pretendard Medium" pitchFamily="34" charset="0"/>
                    <a:cs typeface="Pretendard Medium" pitchFamily="34" charset="0"/>
                  </a:rPr>
                  <a:t>03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4512" y="-38095"/>
            <a:ext cx="2510235" cy="2143243"/>
            <a:chOff x="-34512" y="-38095"/>
            <a:chExt cx="2510235" cy="214324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4512" y="-38095"/>
              <a:ext cx="2510235" cy="214324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4999135" y="6379796"/>
            <a:ext cx="3972294" cy="3917639"/>
            <a:chOff x="14999135" y="6379796"/>
            <a:chExt cx="3972294" cy="391763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99135" y="6379796"/>
              <a:ext cx="3972294" cy="391763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0" y="6803"/>
            <a:ext cx="18285714" cy="95238"/>
            <a:chOff x="0" y="6803"/>
            <a:chExt cx="18285714" cy="9523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803"/>
              <a:ext cx="18285714" cy="9523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7501178" y="82993"/>
            <a:ext cx="1479774" cy="1497300"/>
            <a:chOff x="17501178" y="82993"/>
            <a:chExt cx="1479774" cy="1497300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18213903" y="-512204"/>
              <a:ext cx="51493" cy="1476942"/>
              <a:chOff x="18213903" y="-512204"/>
              <a:chExt cx="51493" cy="1476942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-512204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8213903" y="-391451"/>
              <a:ext cx="51493" cy="1476942"/>
              <a:chOff x="18213903" y="-391451"/>
              <a:chExt cx="51493" cy="1476942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-391451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8213903" y="-270698"/>
              <a:ext cx="51493" cy="1476942"/>
              <a:chOff x="18213903" y="-270698"/>
              <a:chExt cx="51493" cy="1476942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-270698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8213903" y="-149946"/>
              <a:ext cx="51493" cy="1476942"/>
              <a:chOff x="18213903" y="-149946"/>
              <a:chExt cx="51493" cy="1476942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-149946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8213903" y="91560"/>
              <a:ext cx="51493" cy="1476942"/>
              <a:chOff x="18213903" y="91560"/>
              <a:chExt cx="51493" cy="1476942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91560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8213903" y="333065"/>
              <a:ext cx="51493" cy="1476942"/>
              <a:chOff x="18213903" y="333065"/>
              <a:chExt cx="51493" cy="1476942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333065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8213903" y="574570"/>
              <a:ext cx="51493" cy="1476942"/>
              <a:chOff x="18213903" y="574570"/>
              <a:chExt cx="51493" cy="1476942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574570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8213903" y="-29193"/>
              <a:ext cx="51493" cy="1476942"/>
              <a:chOff x="18213903" y="-29193"/>
              <a:chExt cx="51493" cy="1476942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-29193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8213903" y="212312"/>
              <a:ext cx="51493" cy="1476942"/>
              <a:chOff x="18213903" y="212312"/>
              <a:chExt cx="51493" cy="1476942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212312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8213903" y="453817"/>
              <a:ext cx="51493" cy="1476942"/>
              <a:chOff x="18213903" y="453817"/>
              <a:chExt cx="51493" cy="1476942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453817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8213903" y="695323"/>
              <a:ext cx="51493" cy="1476942"/>
              <a:chOff x="18213903" y="695323"/>
              <a:chExt cx="51493" cy="1476942"/>
            </a:xfrm>
          </p:grpSpPr>
          <p:pic>
            <p:nvPicPr>
              <p:cNvPr id="43" name="Object 4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695323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18213903" y="816075"/>
              <a:ext cx="51493" cy="1476942"/>
              <a:chOff x="18213903" y="816075"/>
              <a:chExt cx="51493" cy="1476942"/>
            </a:xfrm>
          </p:grpSpPr>
          <p:pic>
            <p:nvPicPr>
              <p:cNvPr id="46" name="Object 4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3903" y="816075"/>
                <a:ext cx="51493" cy="1476942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18216735" y="-629732"/>
              <a:ext cx="51493" cy="1476942"/>
              <a:chOff x="18216735" y="-629732"/>
              <a:chExt cx="51493" cy="1476942"/>
            </a:xfrm>
          </p:grpSpPr>
          <p:pic>
            <p:nvPicPr>
              <p:cNvPr id="49" name="Object 4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16735" y="-629732"/>
                <a:ext cx="51493" cy="1476942"/>
              </a:xfrm>
              <a:prstGeom prst="rect">
                <a:avLst/>
              </a:prstGeom>
            </p:spPr>
          </p:pic>
        </p:grpSp>
      </p:grpSp>
      <p:grpSp>
        <p:nvGrpSpPr>
          <p:cNvPr id="1018" name="그룹 1018"/>
          <p:cNvGrpSpPr/>
          <p:nvPr/>
        </p:nvGrpSpPr>
        <p:grpSpPr>
          <a:xfrm>
            <a:off x="0" y="9677174"/>
            <a:ext cx="18285714" cy="618064"/>
            <a:chOff x="0" y="9677174"/>
            <a:chExt cx="18285714" cy="618064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9677174"/>
              <a:ext cx="18285714" cy="618064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-19048" y="7216333"/>
            <a:ext cx="1476935" cy="1494427"/>
            <a:chOff x="-19048" y="7216333"/>
            <a:chExt cx="1476935" cy="1494427"/>
          </a:xfrm>
        </p:grpSpPr>
        <p:grpSp>
          <p:nvGrpSpPr>
            <p:cNvPr id="1020" name="그룹 1020"/>
            <p:cNvGrpSpPr/>
            <p:nvPr/>
          </p:nvGrpSpPr>
          <p:grpSpPr>
            <a:xfrm>
              <a:off x="692310" y="6622279"/>
              <a:ext cx="51394" cy="1474109"/>
              <a:chOff x="692310" y="6622279"/>
              <a:chExt cx="51394" cy="1474109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6622279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692310" y="6742800"/>
              <a:ext cx="51394" cy="1474109"/>
              <a:chOff x="692310" y="6742800"/>
              <a:chExt cx="51394" cy="1474109"/>
            </a:xfrm>
          </p:grpSpPr>
          <p:pic>
            <p:nvPicPr>
              <p:cNvPr id="60" name="Object 5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6742800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692310" y="6863321"/>
              <a:ext cx="51394" cy="1474109"/>
              <a:chOff x="692310" y="6863321"/>
              <a:chExt cx="51394" cy="1474109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6863321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692310" y="6983841"/>
              <a:ext cx="51394" cy="1474109"/>
              <a:chOff x="692310" y="6983841"/>
              <a:chExt cx="51394" cy="1474109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6983841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692310" y="7224883"/>
              <a:ext cx="51394" cy="1474109"/>
              <a:chOff x="692310" y="7224883"/>
              <a:chExt cx="51394" cy="1474109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224883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692310" y="7465925"/>
              <a:ext cx="51394" cy="1474109"/>
              <a:chOff x="692310" y="7465925"/>
              <a:chExt cx="51394" cy="1474109"/>
            </a:xfrm>
          </p:grpSpPr>
          <p:pic>
            <p:nvPicPr>
              <p:cNvPr id="72" name="Object 7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465925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6" name="그룹 1026"/>
            <p:cNvGrpSpPr/>
            <p:nvPr/>
          </p:nvGrpSpPr>
          <p:grpSpPr>
            <a:xfrm>
              <a:off x="692310" y="7706967"/>
              <a:ext cx="51394" cy="1474109"/>
              <a:chOff x="692310" y="7706967"/>
              <a:chExt cx="51394" cy="1474109"/>
            </a:xfrm>
          </p:grpSpPr>
          <p:pic>
            <p:nvPicPr>
              <p:cNvPr id="75" name="Object 74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706967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7" name="그룹 1027"/>
            <p:cNvGrpSpPr/>
            <p:nvPr/>
          </p:nvGrpSpPr>
          <p:grpSpPr>
            <a:xfrm>
              <a:off x="692310" y="7104362"/>
              <a:ext cx="51394" cy="1474109"/>
              <a:chOff x="692310" y="7104362"/>
              <a:chExt cx="51394" cy="1474109"/>
            </a:xfrm>
          </p:grpSpPr>
          <p:pic>
            <p:nvPicPr>
              <p:cNvPr id="78" name="Object 7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104362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8" name="그룹 1028"/>
            <p:cNvGrpSpPr/>
            <p:nvPr/>
          </p:nvGrpSpPr>
          <p:grpSpPr>
            <a:xfrm>
              <a:off x="692310" y="7345404"/>
              <a:ext cx="51394" cy="1474109"/>
              <a:chOff x="692310" y="7345404"/>
              <a:chExt cx="51394" cy="1474109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345404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29" name="그룹 1029"/>
            <p:cNvGrpSpPr/>
            <p:nvPr/>
          </p:nvGrpSpPr>
          <p:grpSpPr>
            <a:xfrm>
              <a:off x="692310" y="7586446"/>
              <a:ext cx="51394" cy="1474109"/>
              <a:chOff x="692310" y="7586446"/>
              <a:chExt cx="51394" cy="1474109"/>
            </a:xfrm>
          </p:grpSpPr>
          <p:pic>
            <p:nvPicPr>
              <p:cNvPr id="84" name="Object 83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586446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30" name="그룹 1030"/>
            <p:cNvGrpSpPr/>
            <p:nvPr/>
          </p:nvGrpSpPr>
          <p:grpSpPr>
            <a:xfrm>
              <a:off x="692310" y="7827488"/>
              <a:ext cx="51394" cy="1474109"/>
              <a:chOff x="692310" y="7827488"/>
              <a:chExt cx="51394" cy="1474109"/>
            </a:xfrm>
          </p:grpSpPr>
          <p:pic>
            <p:nvPicPr>
              <p:cNvPr id="87" name="Object 86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827488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31" name="그룹 1031"/>
            <p:cNvGrpSpPr/>
            <p:nvPr/>
          </p:nvGrpSpPr>
          <p:grpSpPr>
            <a:xfrm>
              <a:off x="692310" y="7948009"/>
              <a:ext cx="51394" cy="1474109"/>
              <a:chOff x="692310" y="7948009"/>
              <a:chExt cx="51394" cy="1474109"/>
            </a:xfrm>
          </p:grpSpPr>
          <p:pic>
            <p:nvPicPr>
              <p:cNvPr id="90" name="Object 8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2310" y="7948009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32" name="그룹 1032"/>
            <p:cNvGrpSpPr/>
            <p:nvPr/>
          </p:nvGrpSpPr>
          <p:grpSpPr>
            <a:xfrm>
              <a:off x="695136" y="6504976"/>
              <a:ext cx="51394" cy="1474109"/>
              <a:chOff x="695136" y="6504976"/>
              <a:chExt cx="51394" cy="1474109"/>
            </a:xfrm>
          </p:grpSpPr>
          <p:pic>
            <p:nvPicPr>
              <p:cNvPr id="93" name="Object 92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 rot="-5400000">
                <a:off x="695136" y="6504976"/>
                <a:ext cx="51394" cy="1474109"/>
              </a:xfrm>
              <a:prstGeom prst="rect">
                <a:avLst/>
              </a:prstGeom>
            </p:spPr>
          </p:pic>
        </p:grpSp>
      </p:grpSp>
      <p:grpSp>
        <p:nvGrpSpPr>
          <p:cNvPr id="1033" name="그룹 1033"/>
          <p:cNvGrpSpPr/>
          <p:nvPr/>
        </p:nvGrpSpPr>
        <p:grpSpPr>
          <a:xfrm>
            <a:off x="1438095" y="3849999"/>
            <a:ext cx="15367845" cy="4869730"/>
            <a:chOff x="1438095" y="3849999"/>
            <a:chExt cx="15367845" cy="4869730"/>
          </a:xfrm>
        </p:grpSpPr>
        <p:pic>
          <p:nvPicPr>
            <p:cNvPr id="97" name="Object 9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8095" y="3849999"/>
              <a:ext cx="15367845" cy="4869730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6239002" y="886701"/>
            <a:ext cx="5891798" cy="2033210"/>
            <a:chOff x="6239002" y="886701"/>
            <a:chExt cx="5891798" cy="2033210"/>
          </a:xfrm>
        </p:grpSpPr>
        <p:sp>
          <p:nvSpPr>
            <p:cNvPr id="100" name="Object 100"/>
            <p:cNvSpPr txBox="1"/>
            <p:nvPr/>
          </p:nvSpPr>
          <p:spPr>
            <a:xfrm>
              <a:off x="4766053" y="1364361"/>
              <a:ext cx="8837697" cy="18666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7000" dirty="0">
                  <a:solidFill>
                    <a:srgbClr val="404040"/>
                  </a:solidFill>
                  <a:latin typeface="Pretendard" pitchFamily="34" charset="0"/>
                  <a:cs typeface="Pretendard" pitchFamily="34" charset="0"/>
                </a:rPr>
                <a:t>주제</a:t>
              </a:r>
              <a:endParaRPr lang="en-US" dirty="0"/>
            </a:p>
          </p:txBody>
        </p:sp>
        <p:grpSp>
          <p:nvGrpSpPr>
            <p:cNvPr id="1035" name="그룹 1035"/>
            <p:cNvGrpSpPr/>
            <p:nvPr/>
          </p:nvGrpSpPr>
          <p:grpSpPr>
            <a:xfrm>
              <a:off x="8085653" y="886701"/>
              <a:ext cx="2190476" cy="14286"/>
              <a:chOff x="8085653" y="886701"/>
              <a:chExt cx="2190476" cy="14286"/>
            </a:xfrm>
          </p:grpSpPr>
          <p:pic>
            <p:nvPicPr>
              <p:cNvPr id="102" name="Object 10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8085653" y="886701"/>
                <a:ext cx="2190476" cy="14286"/>
              </a:xfrm>
              <a:prstGeom prst="rect">
                <a:avLst/>
              </a:prstGeom>
            </p:spPr>
          </p:pic>
        </p:grpSp>
        <p:grpSp>
          <p:nvGrpSpPr>
            <p:cNvPr id="1036" name="그룹 1036"/>
            <p:cNvGrpSpPr/>
            <p:nvPr/>
          </p:nvGrpSpPr>
          <p:grpSpPr>
            <a:xfrm>
              <a:off x="8089947" y="1435461"/>
              <a:ext cx="2190476" cy="14286"/>
              <a:chOff x="8089947" y="1435461"/>
              <a:chExt cx="2190476" cy="14286"/>
            </a:xfrm>
          </p:grpSpPr>
          <p:pic>
            <p:nvPicPr>
              <p:cNvPr id="105" name="Object 104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8089947" y="1435461"/>
                <a:ext cx="2190476" cy="14286"/>
              </a:xfrm>
              <a:prstGeom prst="rect">
                <a:avLst/>
              </a:prstGeom>
            </p:spPr>
          </p:pic>
        </p:grpSp>
        <p:sp>
          <p:nvSpPr>
            <p:cNvPr id="107" name="Object 107"/>
            <p:cNvSpPr txBox="1"/>
            <p:nvPr/>
          </p:nvSpPr>
          <p:spPr>
            <a:xfrm>
              <a:off x="7469630" y="878636"/>
              <a:ext cx="3356370" cy="5838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200" kern="0" spc="400" dirty="0">
                  <a:solidFill>
                    <a:srgbClr val="404040"/>
                  </a:solidFill>
                  <a:latin typeface="Pretendard ExtraLight" pitchFamily="34" charset="0"/>
                  <a:cs typeface="Pretendard ExtraLight" pitchFamily="34" charset="0"/>
                </a:rPr>
                <a:t>SUBJECT</a:t>
              </a:r>
              <a:endParaRPr lang="en-US" dirty="0"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7952100" y="9758603"/>
            <a:ext cx="2381515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grpSp>
        <p:nvGrpSpPr>
          <p:cNvPr id="1037" name="그룹 1037"/>
          <p:cNvGrpSpPr/>
          <p:nvPr/>
        </p:nvGrpSpPr>
        <p:grpSpPr>
          <a:xfrm>
            <a:off x="2999973" y="5142857"/>
            <a:ext cx="543422" cy="530848"/>
            <a:chOff x="2999973" y="5142857"/>
            <a:chExt cx="543422" cy="530848"/>
          </a:xfrm>
        </p:grpSpPr>
        <p:pic>
          <p:nvPicPr>
            <p:cNvPr id="111" name="Object 110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99973" y="5142857"/>
              <a:ext cx="543422" cy="530848"/>
            </a:xfrm>
            <a:prstGeom prst="rect">
              <a:avLst/>
            </a:prstGeom>
          </p:spPr>
        </p:pic>
      </p:grpSp>
      <p:sp>
        <p:nvSpPr>
          <p:cNvPr id="113" name="Object 113"/>
          <p:cNvSpPr txBox="1"/>
          <p:nvPr/>
        </p:nvSpPr>
        <p:spPr>
          <a:xfrm>
            <a:off x="3841908" y="5170447"/>
            <a:ext cx="17836822" cy="6457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Pretendard Light" pitchFamily="34" charset="0"/>
                <a:cs typeface="Pretendard Light" pitchFamily="34" charset="0"/>
              </a:rPr>
              <a:t>지번의 군집화 및 군집 별 특성 파악</a:t>
            </a:r>
            <a:endParaRPr lang="en-US" dirty="0"/>
          </a:p>
        </p:txBody>
      </p:sp>
      <p:grpSp>
        <p:nvGrpSpPr>
          <p:cNvPr id="1038" name="그룹 1038"/>
          <p:cNvGrpSpPr/>
          <p:nvPr/>
        </p:nvGrpSpPr>
        <p:grpSpPr>
          <a:xfrm>
            <a:off x="2999973" y="6933491"/>
            <a:ext cx="12733149" cy="565685"/>
            <a:chOff x="2999973" y="6933491"/>
            <a:chExt cx="12733149" cy="565685"/>
          </a:xfrm>
        </p:grpSpPr>
        <p:grpSp>
          <p:nvGrpSpPr>
            <p:cNvPr id="1039" name="그룹 1039"/>
            <p:cNvGrpSpPr/>
            <p:nvPr/>
          </p:nvGrpSpPr>
          <p:grpSpPr>
            <a:xfrm>
              <a:off x="2999973" y="6933491"/>
              <a:ext cx="543422" cy="530848"/>
              <a:chOff x="2999973" y="6933491"/>
              <a:chExt cx="543422" cy="530848"/>
            </a:xfrm>
          </p:grpSpPr>
          <p:pic>
            <p:nvPicPr>
              <p:cNvPr id="116" name="Object 115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999973" y="6933491"/>
                <a:ext cx="543422" cy="530848"/>
              </a:xfrm>
              <a:prstGeom prst="rect">
                <a:avLst/>
              </a:prstGeom>
            </p:spPr>
          </p:pic>
        </p:grpSp>
        <p:sp>
          <p:nvSpPr>
            <p:cNvPr id="118" name="Object 118"/>
            <p:cNvSpPr txBox="1"/>
            <p:nvPr/>
          </p:nvSpPr>
          <p:spPr>
            <a:xfrm>
              <a:off x="3841908" y="6961081"/>
              <a:ext cx="17836822" cy="64571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>
                  <a:solidFill>
                    <a:srgbClr val="404040"/>
                  </a:solidFill>
                  <a:latin typeface="Pretendard Light" pitchFamily="34" charset="0"/>
                  <a:cs typeface="Pretendard Light" pitchFamily="34" charset="0"/>
                </a:rPr>
                <a:t>군집 별 개별 공시지가 예측 모델 만들기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5731802" y="7832974"/>
            <a:ext cx="2646718" cy="2610302"/>
            <a:chOff x="15731802" y="7832974"/>
            <a:chExt cx="2646718" cy="26103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31802" y="7832974"/>
              <a:ext cx="2646718" cy="26103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9677174"/>
            <a:ext cx="18285714" cy="618064"/>
            <a:chOff x="0" y="9677174"/>
            <a:chExt cx="18285714" cy="61806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677174"/>
              <a:ext cx="18285714" cy="6180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766053" y="1362879"/>
            <a:ext cx="8837697" cy="1866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solidFill>
                  <a:srgbClr val="404040"/>
                </a:solidFill>
                <a:latin typeface="Pretendard" pitchFamily="34" charset="0"/>
                <a:cs typeface="Pretendard" pitchFamily="34" charset="0"/>
              </a:rPr>
              <a:t>분석 방법론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7918367" y="915272"/>
            <a:ext cx="2521542" cy="563045"/>
            <a:chOff x="7918367" y="915272"/>
            <a:chExt cx="2521542" cy="563045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8089947" y="1464032"/>
              <a:ext cx="2190476" cy="14286"/>
              <a:chOff x="8089947" y="1464032"/>
              <a:chExt cx="2190476" cy="14286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089947" y="1464032"/>
                <a:ext cx="2190476" cy="1428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085653" y="915272"/>
              <a:ext cx="2190476" cy="14286"/>
              <a:chOff x="8085653" y="915272"/>
              <a:chExt cx="2190476" cy="1428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085653" y="915272"/>
                <a:ext cx="2190476" cy="14286"/>
              </a:xfrm>
              <a:prstGeom prst="rect">
                <a:avLst/>
              </a:prstGeom>
            </p:spPr>
          </p:pic>
        </p:grpSp>
        <p:sp>
          <p:nvSpPr>
            <p:cNvPr id="16" name="Object 16"/>
            <p:cNvSpPr txBox="1"/>
            <p:nvPr/>
          </p:nvSpPr>
          <p:spPr>
            <a:xfrm>
              <a:off x="7287982" y="957684"/>
              <a:ext cx="3782313" cy="4828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800" kern="0" spc="400" dirty="0">
                  <a:solidFill>
                    <a:srgbClr val="404040"/>
                  </a:solidFill>
                  <a:latin typeface="Pretendard ExtraLight" pitchFamily="34" charset="0"/>
                  <a:cs typeface="Pretendard ExtraLight" pitchFamily="34" charset="0"/>
                </a:rPr>
                <a:t>ANALYSIS METHOD</a:t>
              </a:r>
              <a:endParaRPr lang="en-US"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52100" y="9758603"/>
            <a:ext cx="2381515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F7F7F7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17455717" y="-151549"/>
            <a:ext cx="1678463" cy="3460786"/>
            <a:chOff x="17455717" y="-151549"/>
            <a:chExt cx="1678463" cy="346078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8259998" y="-823205"/>
              <a:ext cx="58108" cy="1666670"/>
              <a:chOff x="18259998" y="-823205"/>
              <a:chExt cx="58108" cy="1666670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823205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8259998" y="-686940"/>
              <a:ext cx="58108" cy="1666670"/>
              <a:chOff x="18259998" y="-686940"/>
              <a:chExt cx="58108" cy="1666670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68694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8259998" y="-550676"/>
              <a:ext cx="58108" cy="1666670"/>
              <a:chOff x="18259998" y="-550676"/>
              <a:chExt cx="58108" cy="1666670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550676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8259998" y="-414412"/>
              <a:ext cx="58108" cy="1666670"/>
              <a:chOff x="18259998" y="-414412"/>
              <a:chExt cx="58108" cy="1666670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414412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8259998" y="-141883"/>
              <a:ext cx="58108" cy="1666670"/>
              <a:chOff x="18259998" y="-141883"/>
              <a:chExt cx="58108" cy="1666670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141883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8259998" y="130646"/>
              <a:ext cx="58108" cy="1666670"/>
              <a:chOff x="18259998" y="130646"/>
              <a:chExt cx="58108" cy="1666670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130646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8259998" y="403175"/>
              <a:ext cx="58108" cy="1666670"/>
              <a:chOff x="18259998" y="403175"/>
              <a:chExt cx="58108" cy="1666670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403175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8259998" y="-278147"/>
              <a:ext cx="58108" cy="1666670"/>
              <a:chOff x="18259998" y="-278147"/>
              <a:chExt cx="58108" cy="1666670"/>
            </a:xfrm>
          </p:grpSpPr>
          <p:pic>
            <p:nvPicPr>
              <p:cNvPr id="42" name="Object 4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278147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8259998" y="-5618"/>
              <a:ext cx="58108" cy="1666670"/>
              <a:chOff x="18259998" y="-5618"/>
              <a:chExt cx="58108" cy="1666670"/>
            </a:xfrm>
          </p:grpSpPr>
          <p:pic>
            <p:nvPicPr>
              <p:cNvPr id="45" name="Object 4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5618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18259998" y="266911"/>
              <a:ext cx="58108" cy="1666670"/>
              <a:chOff x="18259998" y="266911"/>
              <a:chExt cx="58108" cy="1666670"/>
            </a:xfrm>
          </p:grpSpPr>
          <p:pic>
            <p:nvPicPr>
              <p:cNvPr id="48" name="Object 4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266911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18259998" y="539440"/>
              <a:ext cx="58108" cy="1666670"/>
              <a:chOff x="18259998" y="539440"/>
              <a:chExt cx="58108" cy="1666670"/>
            </a:xfrm>
          </p:grpSpPr>
          <p:pic>
            <p:nvPicPr>
              <p:cNvPr id="51" name="Object 5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53944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8" name="그룹 1018"/>
            <p:cNvGrpSpPr/>
            <p:nvPr/>
          </p:nvGrpSpPr>
          <p:grpSpPr>
            <a:xfrm>
              <a:off x="18259998" y="675704"/>
              <a:ext cx="58108" cy="1666670"/>
              <a:chOff x="18259998" y="675704"/>
              <a:chExt cx="58108" cy="1666670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675704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9" name="그룹 1019"/>
            <p:cNvGrpSpPr/>
            <p:nvPr/>
          </p:nvGrpSpPr>
          <p:grpSpPr>
            <a:xfrm>
              <a:off x="18263193" y="-955830"/>
              <a:ext cx="58108" cy="1666670"/>
              <a:chOff x="18263193" y="-955830"/>
              <a:chExt cx="58108" cy="1666670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3193" y="-95583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0" name="그룹 1020"/>
            <p:cNvGrpSpPr/>
            <p:nvPr/>
          </p:nvGrpSpPr>
          <p:grpSpPr>
            <a:xfrm>
              <a:off x="18268595" y="947939"/>
              <a:ext cx="58108" cy="1666670"/>
              <a:chOff x="18268595" y="947939"/>
              <a:chExt cx="58108" cy="1666670"/>
            </a:xfrm>
          </p:grpSpPr>
          <p:pic>
            <p:nvPicPr>
              <p:cNvPr id="60" name="Object 5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947939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18268595" y="1084204"/>
              <a:ext cx="58108" cy="1666670"/>
              <a:chOff x="18268595" y="1084204"/>
              <a:chExt cx="58108" cy="1666670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084204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18268595" y="1220468"/>
              <a:ext cx="58108" cy="1666670"/>
              <a:chOff x="18268595" y="1220468"/>
              <a:chExt cx="58108" cy="1666670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220468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18268595" y="1356733"/>
              <a:ext cx="58108" cy="1666670"/>
              <a:chOff x="18268595" y="1356733"/>
              <a:chExt cx="58108" cy="1666670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356733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18268595" y="1629261"/>
              <a:ext cx="58108" cy="1666670"/>
              <a:chOff x="18268595" y="1629261"/>
              <a:chExt cx="58108" cy="1666670"/>
            </a:xfrm>
          </p:grpSpPr>
          <p:pic>
            <p:nvPicPr>
              <p:cNvPr id="72" name="Object 7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629261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18268595" y="1901790"/>
              <a:ext cx="58108" cy="1666670"/>
              <a:chOff x="18268595" y="1901790"/>
              <a:chExt cx="58108" cy="1666670"/>
            </a:xfrm>
          </p:grpSpPr>
          <p:pic>
            <p:nvPicPr>
              <p:cNvPr id="75" name="Object 7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90179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6" name="그룹 1026"/>
            <p:cNvGrpSpPr/>
            <p:nvPr/>
          </p:nvGrpSpPr>
          <p:grpSpPr>
            <a:xfrm>
              <a:off x="18268595" y="2174319"/>
              <a:ext cx="58108" cy="1666670"/>
              <a:chOff x="18268595" y="2174319"/>
              <a:chExt cx="58108" cy="1666670"/>
            </a:xfrm>
          </p:grpSpPr>
          <p:pic>
            <p:nvPicPr>
              <p:cNvPr id="78" name="Object 7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174319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7" name="그룹 1027"/>
            <p:cNvGrpSpPr/>
            <p:nvPr/>
          </p:nvGrpSpPr>
          <p:grpSpPr>
            <a:xfrm>
              <a:off x="18268595" y="1492997"/>
              <a:ext cx="58108" cy="1666670"/>
              <a:chOff x="18268595" y="1492997"/>
              <a:chExt cx="58108" cy="1666670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492997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8" name="그룹 1028"/>
            <p:cNvGrpSpPr/>
            <p:nvPr/>
          </p:nvGrpSpPr>
          <p:grpSpPr>
            <a:xfrm>
              <a:off x="18268595" y="1765526"/>
              <a:ext cx="58108" cy="1666670"/>
              <a:chOff x="18268595" y="1765526"/>
              <a:chExt cx="58108" cy="1666670"/>
            </a:xfrm>
          </p:grpSpPr>
          <p:pic>
            <p:nvPicPr>
              <p:cNvPr id="84" name="Object 8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765526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9" name="그룹 1029"/>
            <p:cNvGrpSpPr/>
            <p:nvPr/>
          </p:nvGrpSpPr>
          <p:grpSpPr>
            <a:xfrm>
              <a:off x="18268595" y="2038055"/>
              <a:ext cx="58108" cy="1666670"/>
              <a:chOff x="18268595" y="2038055"/>
              <a:chExt cx="58108" cy="1666670"/>
            </a:xfrm>
          </p:grpSpPr>
          <p:pic>
            <p:nvPicPr>
              <p:cNvPr id="87" name="Object 8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038055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30" name="그룹 1030"/>
            <p:cNvGrpSpPr/>
            <p:nvPr/>
          </p:nvGrpSpPr>
          <p:grpSpPr>
            <a:xfrm>
              <a:off x="18268595" y="2310584"/>
              <a:ext cx="58108" cy="1666670"/>
              <a:chOff x="18268595" y="2310584"/>
              <a:chExt cx="58108" cy="1666670"/>
            </a:xfrm>
          </p:grpSpPr>
          <p:pic>
            <p:nvPicPr>
              <p:cNvPr id="90" name="Object 8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310584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31" name="그룹 1031"/>
            <p:cNvGrpSpPr/>
            <p:nvPr/>
          </p:nvGrpSpPr>
          <p:grpSpPr>
            <a:xfrm>
              <a:off x="18268595" y="2446848"/>
              <a:ext cx="58108" cy="1666670"/>
              <a:chOff x="18268595" y="2446848"/>
              <a:chExt cx="58108" cy="1666670"/>
            </a:xfrm>
          </p:grpSpPr>
          <p:pic>
            <p:nvPicPr>
              <p:cNvPr id="93" name="Object 9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446848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32" name="그룹 1032"/>
            <p:cNvGrpSpPr/>
            <p:nvPr/>
          </p:nvGrpSpPr>
          <p:grpSpPr>
            <a:xfrm>
              <a:off x="18271791" y="815314"/>
              <a:ext cx="58108" cy="1666670"/>
              <a:chOff x="18271791" y="815314"/>
              <a:chExt cx="58108" cy="1666670"/>
            </a:xfrm>
          </p:grpSpPr>
          <p:pic>
            <p:nvPicPr>
              <p:cNvPr id="96" name="Object 9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71791" y="815314"/>
                <a:ext cx="58108" cy="1666670"/>
              </a:xfrm>
              <a:prstGeom prst="rect">
                <a:avLst/>
              </a:prstGeom>
            </p:spPr>
          </p:pic>
        </p:grpSp>
      </p:grpSp>
      <p:grpSp>
        <p:nvGrpSpPr>
          <p:cNvPr id="1033" name="그룹 1033"/>
          <p:cNvGrpSpPr/>
          <p:nvPr/>
        </p:nvGrpSpPr>
        <p:grpSpPr>
          <a:xfrm>
            <a:off x="-34512" y="-38095"/>
            <a:ext cx="2510235" cy="2143243"/>
            <a:chOff x="-34512" y="-38095"/>
            <a:chExt cx="2510235" cy="2143243"/>
          </a:xfrm>
        </p:grpSpPr>
        <p:pic>
          <p:nvPicPr>
            <p:cNvPr id="100" name="Object 9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34512" y="-38095"/>
              <a:ext cx="2510235" cy="2143243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0" y="6803"/>
            <a:ext cx="18285714" cy="95238"/>
            <a:chOff x="0" y="6803"/>
            <a:chExt cx="18285714" cy="95238"/>
          </a:xfrm>
        </p:grpSpPr>
        <p:pic>
          <p:nvPicPr>
            <p:cNvPr id="103" name="Object 10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6803"/>
              <a:ext cx="18285714" cy="95238"/>
            </a:xfrm>
            <a:prstGeom prst="rect">
              <a:avLst/>
            </a:prstGeom>
          </p:spPr>
        </p:pic>
      </p:grpSp>
      <p:grpSp>
        <p:nvGrpSpPr>
          <p:cNvPr id="1035" name="그룹 1035"/>
          <p:cNvGrpSpPr/>
          <p:nvPr/>
        </p:nvGrpSpPr>
        <p:grpSpPr>
          <a:xfrm>
            <a:off x="902725" y="3294100"/>
            <a:ext cx="16552992" cy="5401312"/>
            <a:chOff x="902725" y="3294100"/>
            <a:chExt cx="16552992" cy="5401312"/>
          </a:xfrm>
        </p:grpSpPr>
        <p:pic>
          <p:nvPicPr>
            <p:cNvPr id="106" name="Object 10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2725" y="3294100"/>
              <a:ext cx="16552992" cy="5401312"/>
            </a:xfrm>
            <a:prstGeom prst="rect">
              <a:avLst/>
            </a:prstGeom>
          </p:spPr>
        </p:pic>
      </p:grpSp>
      <p:grpSp>
        <p:nvGrpSpPr>
          <p:cNvPr id="1036" name="그룹 1036"/>
          <p:cNvGrpSpPr/>
          <p:nvPr/>
        </p:nvGrpSpPr>
        <p:grpSpPr>
          <a:xfrm>
            <a:off x="4902337" y="3864446"/>
            <a:ext cx="689488" cy="689488"/>
            <a:chOff x="4902337" y="3864446"/>
            <a:chExt cx="689488" cy="689488"/>
          </a:xfrm>
        </p:grpSpPr>
        <p:pic>
          <p:nvPicPr>
            <p:cNvPr id="109" name="Object 10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02337" y="3864446"/>
              <a:ext cx="689488" cy="689488"/>
            </a:xfrm>
            <a:prstGeom prst="rect">
              <a:avLst/>
            </a:prstGeom>
          </p:spPr>
        </p:pic>
      </p:grpSp>
      <p:grpSp>
        <p:nvGrpSpPr>
          <p:cNvPr id="1037" name="그룹 1037"/>
          <p:cNvGrpSpPr/>
          <p:nvPr/>
        </p:nvGrpSpPr>
        <p:grpSpPr>
          <a:xfrm>
            <a:off x="4999808" y="3908378"/>
            <a:ext cx="8450620" cy="622229"/>
            <a:chOff x="4999808" y="3908378"/>
            <a:chExt cx="8450620" cy="622229"/>
          </a:xfrm>
        </p:grpSpPr>
        <p:sp>
          <p:nvSpPr>
            <p:cNvPr id="112" name="Object 112"/>
            <p:cNvSpPr txBox="1"/>
            <p:nvPr/>
          </p:nvSpPr>
          <p:spPr>
            <a:xfrm>
              <a:off x="5800575" y="3752821"/>
              <a:ext cx="11474779" cy="9333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5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주성분분석, 인자분석을 통한 차원축소</a:t>
              </a:r>
              <a:endParaRPr lang="en-US" dirty="0"/>
            </a:p>
          </p:txBody>
        </p:sp>
        <p:sp>
          <p:nvSpPr>
            <p:cNvPr id="113" name="Object 113"/>
            <p:cNvSpPr txBox="1"/>
            <p:nvPr/>
          </p:nvSpPr>
          <p:spPr>
            <a:xfrm>
              <a:off x="4874253" y="3920577"/>
              <a:ext cx="753329" cy="62857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3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01</a:t>
              </a:r>
              <a:endParaRPr lang="en-US" dirty="0"/>
            </a:p>
          </p:txBody>
        </p:sp>
      </p:grpSp>
      <p:grpSp>
        <p:nvGrpSpPr>
          <p:cNvPr id="1038" name="그룹 1038"/>
          <p:cNvGrpSpPr/>
          <p:nvPr/>
        </p:nvGrpSpPr>
        <p:grpSpPr>
          <a:xfrm>
            <a:off x="4902337" y="5012580"/>
            <a:ext cx="4947243" cy="689488"/>
            <a:chOff x="4902337" y="5012580"/>
            <a:chExt cx="4947243" cy="689488"/>
          </a:xfrm>
        </p:grpSpPr>
        <p:sp>
          <p:nvSpPr>
            <p:cNvPr id="116" name="Object 116"/>
            <p:cNvSpPr txBox="1"/>
            <p:nvPr/>
          </p:nvSpPr>
          <p:spPr>
            <a:xfrm>
              <a:off x="5801348" y="4892972"/>
              <a:ext cx="6072349" cy="9333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5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군집분석</a:t>
              </a:r>
              <a:endParaRPr lang="en-US" dirty="0"/>
            </a:p>
          </p:txBody>
        </p:sp>
        <p:grpSp>
          <p:nvGrpSpPr>
            <p:cNvPr id="1039" name="그룹 1039"/>
            <p:cNvGrpSpPr/>
            <p:nvPr/>
          </p:nvGrpSpPr>
          <p:grpSpPr>
            <a:xfrm>
              <a:off x="4902337" y="5012580"/>
              <a:ext cx="689488" cy="689488"/>
              <a:chOff x="4902337" y="5012580"/>
              <a:chExt cx="689488" cy="689488"/>
            </a:xfrm>
          </p:grpSpPr>
          <p:pic>
            <p:nvPicPr>
              <p:cNvPr id="118" name="Object 117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902337" y="5012580"/>
                <a:ext cx="689488" cy="689488"/>
              </a:xfrm>
              <a:prstGeom prst="rect">
                <a:avLst/>
              </a:prstGeom>
            </p:spPr>
          </p:pic>
        </p:grpSp>
        <p:sp>
          <p:nvSpPr>
            <p:cNvPr id="120" name="Object 120"/>
            <p:cNvSpPr txBox="1"/>
            <p:nvPr/>
          </p:nvSpPr>
          <p:spPr>
            <a:xfrm>
              <a:off x="4855205" y="5068711"/>
              <a:ext cx="753329" cy="62857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3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02</a:t>
              </a:r>
              <a:endParaRPr lang="en-US" dirty="0"/>
            </a:p>
          </p:txBody>
        </p:sp>
      </p:grpSp>
      <p:grpSp>
        <p:nvGrpSpPr>
          <p:cNvPr id="1040" name="그룹 1040"/>
          <p:cNvGrpSpPr/>
          <p:nvPr/>
        </p:nvGrpSpPr>
        <p:grpSpPr>
          <a:xfrm>
            <a:off x="4902337" y="6179968"/>
            <a:ext cx="4947243" cy="689488"/>
            <a:chOff x="4902337" y="6179968"/>
            <a:chExt cx="4947243" cy="689488"/>
          </a:xfrm>
        </p:grpSpPr>
        <p:sp>
          <p:nvSpPr>
            <p:cNvPr id="123" name="Object 123"/>
            <p:cNvSpPr txBox="1"/>
            <p:nvPr/>
          </p:nvSpPr>
          <p:spPr>
            <a:xfrm>
              <a:off x="5801348" y="6060360"/>
              <a:ext cx="6072349" cy="9333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35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판별분석</a:t>
              </a:r>
              <a:endParaRPr lang="en-US" dirty="0"/>
            </a:p>
          </p:txBody>
        </p:sp>
        <p:grpSp>
          <p:nvGrpSpPr>
            <p:cNvPr id="1041" name="그룹 1041"/>
            <p:cNvGrpSpPr/>
            <p:nvPr/>
          </p:nvGrpSpPr>
          <p:grpSpPr>
            <a:xfrm>
              <a:off x="4902337" y="6179968"/>
              <a:ext cx="689488" cy="689488"/>
              <a:chOff x="4902337" y="6179968"/>
              <a:chExt cx="689488" cy="689488"/>
            </a:xfrm>
          </p:grpSpPr>
          <p:pic>
            <p:nvPicPr>
              <p:cNvPr id="125" name="Object 124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902337" y="6179968"/>
                <a:ext cx="689488" cy="689488"/>
              </a:xfrm>
              <a:prstGeom prst="rect">
                <a:avLst/>
              </a:prstGeom>
            </p:spPr>
          </p:pic>
        </p:grpSp>
        <p:sp>
          <p:nvSpPr>
            <p:cNvPr id="127" name="Object 127"/>
            <p:cNvSpPr txBox="1"/>
            <p:nvPr/>
          </p:nvSpPr>
          <p:spPr>
            <a:xfrm>
              <a:off x="4855205" y="6234274"/>
              <a:ext cx="753329" cy="6322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300" dirty="0">
                  <a:solidFill>
                    <a:srgbClr val="404040"/>
                  </a:solidFill>
                  <a:latin typeface="Pretendard Medium" pitchFamily="34" charset="0"/>
                  <a:cs typeface="Pretendard Medium" pitchFamily="34" charset="0"/>
                </a:rPr>
                <a:t>03</a:t>
              </a:r>
              <a:endParaRPr lang="en-US" dirty="0"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5801348" y="7253790"/>
            <a:ext cx="10147049" cy="933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500" dirty="0">
                <a:solidFill>
                  <a:srgbClr val="404040"/>
                </a:solidFill>
                <a:latin typeface="Pretendard Medium" pitchFamily="34" charset="0"/>
                <a:cs typeface="Pretendard Medium" pitchFamily="34" charset="0"/>
              </a:rPr>
              <a:t>지도학습 : 목표변수 : 개별 공시지가</a:t>
            </a:r>
            <a:endParaRPr lang="en-US" dirty="0"/>
          </a:p>
        </p:txBody>
      </p:sp>
      <p:grpSp>
        <p:nvGrpSpPr>
          <p:cNvPr id="1042" name="그룹 1042"/>
          <p:cNvGrpSpPr/>
          <p:nvPr/>
        </p:nvGrpSpPr>
        <p:grpSpPr>
          <a:xfrm>
            <a:off x="4902337" y="7373398"/>
            <a:ext cx="689488" cy="689488"/>
            <a:chOff x="4902337" y="7373398"/>
            <a:chExt cx="689488" cy="689488"/>
          </a:xfrm>
        </p:grpSpPr>
        <p:pic>
          <p:nvPicPr>
            <p:cNvPr id="131" name="Object 13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02337" y="7373398"/>
              <a:ext cx="689488" cy="689488"/>
            </a:xfrm>
            <a:prstGeom prst="rect">
              <a:avLst/>
            </a:prstGeom>
          </p:spPr>
        </p:pic>
      </p:grpSp>
      <p:sp>
        <p:nvSpPr>
          <p:cNvPr id="133" name="Object 133"/>
          <p:cNvSpPr txBox="1"/>
          <p:nvPr/>
        </p:nvSpPr>
        <p:spPr>
          <a:xfrm>
            <a:off x="4855205" y="7427704"/>
            <a:ext cx="753329" cy="6322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404040"/>
                </a:solidFill>
                <a:latin typeface="Pretendard Medium" pitchFamily="34" charset="0"/>
                <a:cs typeface="Pretendard Medium" pitchFamily="34" charset="0"/>
              </a:rPr>
              <a:t>04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5731802" y="7832974"/>
            <a:ext cx="2646718" cy="2610302"/>
            <a:chOff x="15731802" y="7832974"/>
            <a:chExt cx="2646718" cy="261030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31802" y="7832974"/>
              <a:ext cx="2646718" cy="261030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9677174"/>
            <a:ext cx="18285714" cy="618064"/>
            <a:chOff x="0" y="9677174"/>
            <a:chExt cx="18285714" cy="61806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677174"/>
              <a:ext cx="18285714" cy="61806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766053" y="1362879"/>
            <a:ext cx="8837697" cy="1866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solidFill>
                  <a:srgbClr val="404040"/>
                </a:solidFill>
                <a:latin typeface="Pretendard" pitchFamily="34" charset="0"/>
                <a:cs typeface="Pretendard" pitchFamily="34" charset="0"/>
              </a:rPr>
              <a:t>향후 진행 계획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7918367" y="915272"/>
            <a:ext cx="2521542" cy="563045"/>
            <a:chOff x="7918367" y="915272"/>
            <a:chExt cx="2521542" cy="563045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8089947" y="1464032"/>
              <a:ext cx="2190476" cy="14286"/>
              <a:chOff x="8089947" y="1464032"/>
              <a:chExt cx="2190476" cy="14286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089947" y="1464032"/>
                <a:ext cx="2190476" cy="14286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8085653" y="915272"/>
              <a:ext cx="2190476" cy="14286"/>
              <a:chOff x="8085653" y="915272"/>
              <a:chExt cx="2190476" cy="1428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085653" y="915272"/>
                <a:ext cx="2190476" cy="14286"/>
              </a:xfrm>
              <a:prstGeom prst="rect">
                <a:avLst/>
              </a:prstGeom>
            </p:spPr>
          </p:pic>
        </p:grpSp>
        <p:sp>
          <p:nvSpPr>
            <p:cNvPr id="16" name="Object 16"/>
            <p:cNvSpPr txBox="1"/>
            <p:nvPr/>
          </p:nvSpPr>
          <p:spPr>
            <a:xfrm>
              <a:off x="7287982" y="957684"/>
              <a:ext cx="3782313" cy="4828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800" kern="0" spc="400" dirty="0">
                  <a:solidFill>
                    <a:srgbClr val="404040"/>
                  </a:solidFill>
                  <a:latin typeface="Pretendard ExtraLight" pitchFamily="34" charset="0"/>
                  <a:cs typeface="Pretendard ExtraLight" pitchFamily="34" charset="0"/>
                </a:rPr>
                <a:t>PROJECT PLAN</a:t>
              </a:r>
              <a:endParaRPr lang="en-US"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52100" y="9758603"/>
            <a:ext cx="2381515" cy="4828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F7F7F7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17455717" y="-151549"/>
            <a:ext cx="1678463" cy="3460786"/>
            <a:chOff x="17455717" y="-151549"/>
            <a:chExt cx="1678463" cy="3460786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8259998" y="-823205"/>
              <a:ext cx="58108" cy="1666670"/>
              <a:chOff x="18259998" y="-823205"/>
              <a:chExt cx="58108" cy="1666670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823205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8259998" y="-686940"/>
              <a:ext cx="58108" cy="1666670"/>
              <a:chOff x="18259998" y="-686940"/>
              <a:chExt cx="58108" cy="1666670"/>
            </a:xfrm>
          </p:grpSpPr>
          <p:pic>
            <p:nvPicPr>
              <p:cNvPr id="24" name="Object 2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68694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8259998" y="-550676"/>
              <a:ext cx="58108" cy="1666670"/>
              <a:chOff x="18259998" y="-550676"/>
              <a:chExt cx="58108" cy="1666670"/>
            </a:xfrm>
          </p:grpSpPr>
          <p:pic>
            <p:nvPicPr>
              <p:cNvPr id="27" name="Object 2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550676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8259998" y="-414412"/>
              <a:ext cx="58108" cy="1666670"/>
              <a:chOff x="18259998" y="-414412"/>
              <a:chExt cx="58108" cy="1666670"/>
            </a:xfrm>
          </p:grpSpPr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414412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8259998" y="-141883"/>
              <a:ext cx="58108" cy="1666670"/>
              <a:chOff x="18259998" y="-141883"/>
              <a:chExt cx="58108" cy="1666670"/>
            </a:xfrm>
          </p:grpSpPr>
          <p:pic>
            <p:nvPicPr>
              <p:cNvPr id="33" name="Object 3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141883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8259998" y="130646"/>
              <a:ext cx="58108" cy="1666670"/>
              <a:chOff x="18259998" y="130646"/>
              <a:chExt cx="58108" cy="1666670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130646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8259998" y="403175"/>
              <a:ext cx="58108" cy="1666670"/>
              <a:chOff x="18259998" y="403175"/>
              <a:chExt cx="58108" cy="1666670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403175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8259998" y="-278147"/>
              <a:ext cx="58108" cy="1666670"/>
              <a:chOff x="18259998" y="-278147"/>
              <a:chExt cx="58108" cy="1666670"/>
            </a:xfrm>
          </p:grpSpPr>
          <p:pic>
            <p:nvPicPr>
              <p:cNvPr id="42" name="Object 4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278147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8259998" y="-5618"/>
              <a:ext cx="58108" cy="1666670"/>
              <a:chOff x="18259998" y="-5618"/>
              <a:chExt cx="58108" cy="1666670"/>
            </a:xfrm>
          </p:grpSpPr>
          <p:pic>
            <p:nvPicPr>
              <p:cNvPr id="45" name="Object 4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-5618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6" name="그룹 1016"/>
            <p:cNvGrpSpPr/>
            <p:nvPr/>
          </p:nvGrpSpPr>
          <p:grpSpPr>
            <a:xfrm>
              <a:off x="18259998" y="266911"/>
              <a:ext cx="58108" cy="1666670"/>
              <a:chOff x="18259998" y="266911"/>
              <a:chExt cx="58108" cy="1666670"/>
            </a:xfrm>
          </p:grpSpPr>
          <p:pic>
            <p:nvPicPr>
              <p:cNvPr id="48" name="Object 4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266911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7" name="그룹 1017"/>
            <p:cNvGrpSpPr/>
            <p:nvPr/>
          </p:nvGrpSpPr>
          <p:grpSpPr>
            <a:xfrm>
              <a:off x="18259998" y="539440"/>
              <a:ext cx="58108" cy="1666670"/>
              <a:chOff x="18259998" y="539440"/>
              <a:chExt cx="58108" cy="1666670"/>
            </a:xfrm>
          </p:grpSpPr>
          <p:pic>
            <p:nvPicPr>
              <p:cNvPr id="51" name="Object 5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53944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8" name="그룹 1018"/>
            <p:cNvGrpSpPr/>
            <p:nvPr/>
          </p:nvGrpSpPr>
          <p:grpSpPr>
            <a:xfrm>
              <a:off x="18259998" y="675704"/>
              <a:ext cx="58108" cy="1666670"/>
              <a:chOff x="18259998" y="675704"/>
              <a:chExt cx="58108" cy="1666670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59998" y="675704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19" name="그룹 1019"/>
            <p:cNvGrpSpPr/>
            <p:nvPr/>
          </p:nvGrpSpPr>
          <p:grpSpPr>
            <a:xfrm>
              <a:off x="18263193" y="-955830"/>
              <a:ext cx="58108" cy="1666670"/>
              <a:chOff x="18263193" y="-955830"/>
              <a:chExt cx="58108" cy="1666670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3193" y="-95583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0" name="그룹 1020"/>
            <p:cNvGrpSpPr/>
            <p:nvPr/>
          </p:nvGrpSpPr>
          <p:grpSpPr>
            <a:xfrm>
              <a:off x="18268595" y="947939"/>
              <a:ext cx="58108" cy="1666670"/>
              <a:chOff x="18268595" y="947939"/>
              <a:chExt cx="58108" cy="1666670"/>
            </a:xfrm>
          </p:grpSpPr>
          <p:pic>
            <p:nvPicPr>
              <p:cNvPr id="60" name="Object 5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947939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18268595" y="1084204"/>
              <a:ext cx="58108" cy="1666670"/>
              <a:chOff x="18268595" y="1084204"/>
              <a:chExt cx="58108" cy="1666670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084204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18268595" y="1220468"/>
              <a:ext cx="58108" cy="1666670"/>
              <a:chOff x="18268595" y="1220468"/>
              <a:chExt cx="58108" cy="1666670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220468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18268595" y="1356733"/>
              <a:ext cx="58108" cy="1666670"/>
              <a:chOff x="18268595" y="1356733"/>
              <a:chExt cx="58108" cy="1666670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356733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18268595" y="1629261"/>
              <a:ext cx="58108" cy="1666670"/>
              <a:chOff x="18268595" y="1629261"/>
              <a:chExt cx="58108" cy="1666670"/>
            </a:xfrm>
          </p:grpSpPr>
          <p:pic>
            <p:nvPicPr>
              <p:cNvPr id="72" name="Object 71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629261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18268595" y="1901790"/>
              <a:ext cx="58108" cy="1666670"/>
              <a:chOff x="18268595" y="1901790"/>
              <a:chExt cx="58108" cy="1666670"/>
            </a:xfrm>
          </p:grpSpPr>
          <p:pic>
            <p:nvPicPr>
              <p:cNvPr id="75" name="Object 7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901790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6" name="그룹 1026"/>
            <p:cNvGrpSpPr/>
            <p:nvPr/>
          </p:nvGrpSpPr>
          <p:grpSpPr>
            <a:xfrm>
              <a:off x="18268595" y="2174319"/>
              <a:ext cx="58108" cy="1666670"/>
              <a:chOff x="18268595" y="2174319"/>
              <a:chExt cx="58108" cy="1666670"/>
            </a:xfrm>
          </p:grpSpPr>
          <p:pic>
            <p:nvPicPr>
              <p:cNvPr id="78" name="Object 7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174319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7" name="그룹 1027"/>
            <p:cNvGrpSpPr/>
            <p:nvPr/>
          </p:nvGrpSpPr>
          <p:grpSpPr>
            <a:xfrm>
              <a:off x="18268595" y="1492997"/>
              <a:ext cx="58108" cy="1666670"/>
              <a:chOff x="18268595" y="1492997"/>
              <a:chExt cx="58108" cy="1666670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492997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8" name="그룹 1028"/>
            <p:cNvGrpSpPr/>
            <p:nvPr/>
          </p:nvGrpSpPr>
          <p:grpSpPr>
            <a:xfrm>
              <a:off x="18268595" y="1765526"/>
              <a:ext cx="58108" cy="1666670"/>
              <a:chOff x="18268595" y="1765526"/>
              <a:chExt cx="58108" cy="1666670"/>
            </a:xfrm>
          </p:grpSpPr>
          <p:pic>
            <p:nvPicPr>
              <p:cNvPr id="84" name="Object 8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1765526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29" name="그룹 1029"/>
            <p:cNvGrpSpPr/>
            <p:nvPr/>
          </p:nvGrpSpPr>
          <p:grpSpPr>
            <a:xfrm>
              <a:off x="18268595" y="2038055"/>
              <a:ext cx="58108" cy="1666670"/>
              <a:chOff x="18268595" y="2038055"/>
              <a:chExt cx="58108" cy="1666670"/>
            </a:xfrm>
          </p:grpSpPr>
          <p:pic>
            <p:nvPicPr>
              <p:cNvPr id="87" name="Object 86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038055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30" name="그룹 1030"/>
            <p:cNvGrpSpPr/>
            <p:nvPr/>
          </p:nvGrpSpPr>
          <p:grpSpPr>
            <a:xfrm>
              <a:off x="18268595" y="2310584"/>
              <a:ext cx="58108" cy="1666670"/>
              <a:chOff x="18268595" y="2310584"/>
              <a:chExt cx="58108" cy="1666670"/>
            </a:xfrm>
          </p:grpSpPr>
          <p:pic>
            <p:nvPicPr>
              <p:cNvPr id="90" name="Object 8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310584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31" name="그룹 1031"/>
            <p:cNvGrpSpPr/>
            <p:nvPr/>
          </p:nvGrpSpPr>
          <p:grpSpPr>
            <a:xfrm>
              <a:off x="18268595" y="2446848"/>
              <a:ext cx="58108" cy="1666670"/>
              <a:chOff x="18268595" y="2446848"/>
              <a:chExt cx="58108" cy="1666670"/>
            </a:xfrm>
          </p:grpSpPr>
          <p:pic>
            <p:nvPicPr>
              <p:cNvPr id="93" name="Object 92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68595" y="2446848"/>
                <a:ext cx="58108" cy="1666670"/>
              </a:xfrm>
              <a:prstGeom prst="rect">
                <a:avLst/>
              </a:prstGeom>
            </p:spPr>
          </p:pic>
        </p:grpSp>
        <p:grpSp>
          <p:nvGrpSpPr>
            <p:cNvPr id="1032" name="그룹 1032"/>
            <p:cNvGrpSpPr/>
            <p:nvPr/>
          </p:nvGrpSpPr>
          <p:grpSpPr>
            <a:xfrm>
              <a:off x="18271791" y="815314"/>
              <a:ext cx="58108" cy="1666670"/>
              <a:chOff x="18271791" y="815314"/>
              <a:chExt cx="58108" cy="1666670"/>
            </a:xfrm>
          </p:grpSpPr>
          <p:pic>
            <p:nvPicPr>
              <p:cNvPr id="96" name="Object 9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 rot="-5400000">
                <a:off x="18271791" y="815314"/>
                <a:ext cx="58108" cy="1666670"/>
              </a:xfrm>
              <a:prstGeom prst="rect">
                <a:avLst/>
              </a:prstGeom>
            </p:spPr>
          </p:pic>
        </p:grpSp>
      </p:grpSp>
      <p:grpSp>
        <p:nvGrpSpPr>
          <p:cNvPr id="1033" name="그룹 1033"/>
          <p:cNvGrpSpPr/>
          <p:nvPr/>
        </p:nvGrpSpPr>
        <p:grpSpPr>
          <a:xfrm>
            <a:off x="-34512" y="-38095"/>
            <a:ext cx="2510235" cy="2143243"/>
            <a:chOff x="-34512" y="-38095"/>
            <a:chExt cx="2510235" cy="2143243"/>
          </a:xfrm>
        </p:grpSpPr>
        <p:pic>
          <p:nvPicPr>
            <p:cNvPr id="100" name="Object 9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34512" y="-38095"/>
              <a:ext cx="2510235" cy="2143243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0" y="6803"/>
            <a:ext cx="18285714" cy="95238"/>
            <a:chOff x="0" y="6803"/>
            <a:chExt cx="18285714" cy="95238"/>
          </a:xfrm>
        </p:grpSpPr>
        <p:pic>
          <p:nvPicPr>
            <p:cNvPr id="103" name="Object 10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6803"/>
              <a:ext cx="18285714" cy="95238"/>
            </a:xfrm>
            <a:prstGeom prst="rect">
              <a:avLst/>
            </a:prstGeom>
          </p:spPr>
        </p:pic>
      </p:grpSp>
      <p:grpSp>
        <p:nvGrpSpPr>
          <p:cNvPr id="1035" name="그룹 1035"/>
          <p:cNvGrpSpPr/>
          <p:nvPr/>
        </p:nvGrpSpPr>
        <p:grpSpPr>
          <a:xfrm>
            <a:off x="1979769" y="4059403"/>
            <a:ext cx="3725210" cy="2319290"/>
            <a:chOff x="1979769" y="4059403"/>
            <a:chExt cx="3725210" cy="2319290"/>
          </a:xfrm>
        </p:grpSpPr>
        <p:pic>
          <p:nvPicPr>
            <p:cNvPr id="106" name="Object 10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79769" y="4059403"/>
              <a:ext cx="3725210" cy="2319290"/>
            </a:xfrm>
            <a:prstGeom prst="rect">
              <a:avLst/>
            </a:prstGeom>
          </p:spPr>
        </p:pic>
      </p:grpSp>
      <p:grpSp>
        <p:nvGrpSpPr>
          <p:cNvPr id="1036" name="그룹 1036"/>
          <p:cNvGrpSpPr/>
          <p:nvPr/>
        </p:nvGrpSpPr>
        <p:grpSpPr>
          <a:xfrm>
            <a:off x="5513425" y="4059403"/>
            <a:ext cx="3725210" cy="2319290"/>
            <a:chOff x="5513425" y="4059403"/>
            <a:chExt cx="3725210" cy="2319290"/>
          </a:xfrm>
        </p:grpSpPr>
        <p:pic>
          <p:nvPicPr>
            <p:cNvPr id="109" name="Object 10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13425" y="4059403"/>
              <a:ext cx="3725210" cy="2319290"/>
            </a:xfrm>
            <a:prstGeom prst="rect">
              <a:avLst/>
            </a:prstGeom>
          </p:spPr>
        </p:pic>
      </p:grpSp>
      <p:grpSp>
        <p:nvGrpSpPr>
          <p:cNvPr id="1037" name="그룹 1037"/>
          <p:cNvGrpSpPr/>
          <p:nvPr/>
        </p:nvGrpSpPr>
        <p:grpSpPr>
          <a:xfrm>
            <a:off x="9047080" y="4059403"/>
            <a:ext cx="3725210" cy="2319290"/>
            <a:chOff x="9047080" y="4059403"/>
            <a:chExt cx="3725210" cy="2319290"/>
          </a:xfrm>
        </p:grpSpPr>
        <p:pic>
          <p:nvPicPr>
            <p:cNvPr id="112" name="Object 11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47080" y="4059403"/>
              <a:ext cx="3725210" cy="2319290"/>
            </a:xfrm>
            <a:prstGeom prst="rect">
              <a:avLst/>
            </a:prstGeom>
          </p:spPr>
        </p:pic>
      </p:grpSp>
      <p:grpSp>
        <p:nvGrpSpPr>
          <p:cNvPr id="1038" name="그룹 1038"/>
          <p:cNvGrpSpPr/>
          <p:nvPr/>
        </p:nvGrpSpPr>
        <p:grpSpPr>
          <a:xfrm>
            <a:off x="12580735" y="4059403"/>
            <a:ext cx="3725210" cy="2319290"/>
            <a:chOff x="12580735" y="4059403"/>
            <a:chExt cx="3725210" cy="2319290"/>
          </a:xfrm>
        </p:grpSpPr>
        <p:pic>
          <p:nvPicPr>
            <p:cNvPr id="115" name="Object 11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80735" y="4059403"/>
              <a:ext cx="3725210" cy="2319290"/>
            </a:xfrm>
            <a:prstGeom prst="rect">
              <a:avLst/>
            </a:prstGeom>
          </p:spPr>
        </p:pic>
      </p:grpSp>
      <p:grpSp>
        <p:nvGrpSpPr>
          <p:cNvPr id="1039" name="그룹 1039"/>
          <p:cNvGrpSpPr/>
          <p:nvPr/>
        </p:nvGrpSpPr>
        <p:grpSpPr>
          <a:xfrm>
            <a:off x="3182702" y="5411530"/>
            <a:ext cx="1319344" cy="33517"/>
            <a:chOff x="3182702" y="5411530"/>
            <a:chExt cx="1319344" cy="33517"/>
          </a:xfrm>
        </p:grpSpPr>
        <p:pic>
          <p:nvPicPr>
            <p:cNvPr id="118" name="Object 11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82702" y="5411530"/>
              <a:ext cx="1319344" cy="33517"/>
            </a:xfrm>
            <a:prstGeom prst="rect">
              <a:avLst/>
            </a:prstGeom>
          </p:spPr>
        </p:pic>
      </p:grpSp>
      <p:sp>
        <p:nvSpPr>
          <p:cNvPr id="120" name="Object 120"/>
          <p:cNvSpPr txBox="1"/>
          <p:nvPr/>
        </p:nvSpPr>
        <p:spPr>
          <a:xfrm>
            <a:off x="2368979" y="5524006"/>
            <a:ext cx="2946791" cy="613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EDA</a:t>
            </a:r>
            <a:endParaRPr lang="en-US" dirty="0"/>
          </a:p>
        </p:txBody>
      </p:sp>
      <p:sp>
        <p:nvSpPr>
          <p:cNvPr id="121" name="Object 121"/>
          <p:cNvSpPr txBox="1"/>
          <p:nvPr/>
        </p:nvSpPr>
        <p:spPr>
          <a:xfrm>
            <a:off x="2901471" y="4032061"/>
            <a:ext cx="1881807" cy="16135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1</a:t>
            </a:r>
            <a:endParaRPr lang="en-US" dirty="0"/>
          </a:p>
        </p:txBody>
      </p:sp>
      <p:grpSp>
        <p:nvGrpSpPr>
          <p:cNvPr id="1040" name="그룹 1040"/>
          <p:cNvGrpSpPr/>
          <p:nvPr/>
        </p:nvGrpSpPr>
        <p:grpSpPr>
          <a:xfrm>
            <a:off x="6716357" y="5411530"/>
            <a:ext cx="1319344" cy="33517"/>
            <a:chOff x="6716357" y="5411530"/>
            <a:chExt cx="1319344" cy="33517"/>
          </a:xfrm>
        </p:grpSpPr>
        <p:pic>
          <p:nvPicPr>
            <p:cNvPr id="123" name="Object 12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6357" y="5411530"/>
              <a:ext cx="1319344" cy="3351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5902634" y="5524006"/>
            <a:ext cx="2946791" cy="613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차원 축소</a:t>
            </a:r>
            <a:endParaRPr lang="en-US" dirty="0"/>
          </a:p>
        </p:txBody>
      </p:sp>
      <p:sp>
        <p:nvSpPr>
          <p:cNvPr id="126" name="Object 126"/>
          <p:cNvSpPr txBox="1"/>
          <p:nvPr/>
        </p:nvSpPr>
        <p:spPr>
          <a:xfrm>
            <a:off x="6435130" y="4032064"/>
            <a:ext cx="1881807" cy="16135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2</a:t>
            </a:r>
            <a:endParaRPr lang="en-US" dirty="0"/>
          </a:p>
        </p:txBody>
      </p:sp>
      <p:grpSp>
        <p:nvGrpSpPr>
          <p:cNvPr id="1041" name="그룹 1041"/>
          <p:cNvGrpSpPr/>
          <p:nvPr/>
        </p:nvGrpSpPr>
        <p:grpSpPr>
          <a:xfrm>
            <a:off x="10250013" y="5411530"/>
            <a:ext cx="1319344" cy="33517"/>
            <a:chOff x="10250013" y="5411530"/>
            <a:chExt cx="1319344" cy="33517"/>
          </a:xfrm>
        </p:grpSpPr>
        <p:pic>
          <p:nvPicPr>
            <p:cNvPr id="128" name="Object 12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50013" y="5411530"/>
              <a:ext cx="1319344" cy="33517"/>
            </a:xfrm>
            <a:prstGeom prst="rect">
              <a:avLst/>
            </a:prstGeom>
          </p:spPr>
        </p:pic>
      </p:grpSp>
      <p:sp>
        <p:nvSpPr>
          <p:cNvPr id="130" name="Object 130"/>
          <p:cNvSpPr txBox="1"/>
          <p:nvPr/>
        </p:nvSpPr>
        <p:spPr>
          <a:xfrm>
            <a:off x="9436289" y="5195435"/>
            <a:ext cx="2946791" cy="12704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군집분석 </a:t>
            </a:r>
          </a:p>
          <a:p>
            <a:pPr algn="ctr"/>
            <a:r>
              <a:rPr lang="en-US" sz="2300" b="1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및 판별분석</a:t>
            </a:r>
            <a:endParaRPr lang="en-US" dirty="0"/>
          </a:p>
        </p:txBody>
      </p:sp>
      <p:sp>
        <p:nvSpPr>
          <p:cNvPr id="131" name="Object 131"/>
          <p:cNvSpPr txBox="1"/>
          <p:nvPr/>
        </p:nvSpPr>
        <p:spPr>
          <a:xfrm>
            <a:off x="9968796" y="4032064"/>
            <a:ext cx="1881807" cy="16135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3</a:t>
            </a:r>
            <a:endParaRPr lang="en-US" dirty="0"/>
          </a:p>
        </p:txBody>
      </p:sp>
      <p:grpSp>
        <p:nvGrpSpPr>
          <p:cNvPr id="1042" name="그룹 1042"/>
          <p:cNvGrpSpPr/>
          <p:nvPr/>
        </p:nvGrpSpPr>
        <p:grpSpPr>
          <a:xfrm>
            <a:off x="13783668" y="5411530"/>
            <a:ext cx="1319344" cy="33517"/>
            <a:chOff x="13783668" y="5411530"/>
            <a:chExt cx="1319344" cy="33517"/>
          </a:xfrm>
        </p:grpSpPr>
        <p:pic>
          <p:nvPicPr>
            <p:cNvPr id="133" name="Object 13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783668" y="5411530"/>
              <a:ext cx="1319344" cy="33517"/>
            </a:xfrm>
            <a:prstGeom prst="rect">
              <a:avLst/>
            </a:prstGeom>
          </p:spPr>
        </p:pic>
      </p:grpSp>
      <p:sp>
        <p:nvSpPr>
          <p:cNvPr id="135" name="Object 135"/>
          <p:cNvSpPr txBox="1"/>
          <p:nvPr/>
        </p:nvSpPr>
        <p:spPr>
          <a:xfrm>
            <a:off x="12969944" y="5195435"/>
            <a:ext cx="2946791" cy="12704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b="1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지도학습 </a:t>
            </a:r>
          </a:p>
          <a:p>
            <a:pPr algn="ctr"/>
            <a:r>
              <a:rPr lang="en-US" sz="2300" b="1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및 최종발표</a:t>
            </a:r>
            <a:endParaRPr lang="en-US" dirty="0"/>
          </a:p>
        </p:txBody>
      </p:sp>
      <p:sp>
        <p:nvSpPr>
          <p:cNvPr id="136" name="Object 136"/>
          <p:cNvSpPr txBox="1"/>
          <p:nvPr/>
        </p:nvSpPr>
        <p:spPr>
          <a:xfrm>
            <a:off x="13502415" y="4032064"/>
            <a:ext cx="1881807" cy="16135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dirty="0">
                <a:solidFill>
                  <a:srgbClr val="202020"/>
                </a:solidFill>
                <a:latin typeface="Oswald SemiBold" pitchFamily="34" charset="0"/>
                <a:cs typeface="Oswald SemiBold" pitchFamily="34" charset="0"/>
              </a:rPr>
              <a:t>4</a:t>
            </a:r>
            <a:endParaRPr lang="en-US" dirty="0"/>
          </a:p>
        </p:txBody>
      </p:sp>
      <p:sp>
        <p:nvSpPr>
          <p:cNvPr id="137" name="Object 137"/>
          <p:cNvSpPr txBox="1"/>
          <p:nvPr/>
        </p:nvSpPr>
        <p:spPr>
          <a:xfrm>
            <a:off x="2090484" y="6461545"/>
            <a:ext cx="4834270" cy="16457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데이터 결측값 처리 및 이상치 제거</a:t>
            </a:r>
          </a:p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다중공선성 확인 및 변수 제거</a:t>
            </a:r>
          </a:p>
          <a:p>
            <a:r>
              <a:rPr lang="en-US" sz="16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시각화</a:t>
            </a:r>
            <a:endParaRPr lang="en-US" dirty="0"/>
          </a:p>
        </p:txBody>
      </p:sp>
      <p:sp>
        <p:nvSpPr>
          <p:cNvPr id="138" name="Object 138"/>
          <p:cNvSpPr txBox="1"/>
          <p:nvPr/>
        </p:nvSpPr>
        <p:spPr>
          <a:xfrm>
            <a:off x="5653933" y="6461545"/>
            <a:ext cx="4834270" cy="16457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주성분분석</a:t>
            </a:r>
          </a:p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인자분석</a:t>
            </a:r>
          </a:p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주성분과 인자의 의미 해석</a:t>
            </a:r>
            <a:endParaRPr lang="en-US" dirty="0"/>
          </a:p>
        </p:txBody>
      </p:sp>
      <p:sp>
        <p:nvSpPr>
          <p:cNvPr id="139" name="Object 139"/>
          <p:cNvSpPr txBox="1"/>
          <p:nvPr/>
        </p:nvSpPr>
        <p:spPr>
          <a:xfrm>
            <a:off x="9217381" y="6461545"/>
            <a:ext cx="4834270" cy="16457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K-MEANS 클러스터링</a:t>
            </a:r>
          </a:p>
          <a:p>
            <a:endParaRPr lang="en-US" sz="1600" kern="0" spc="-100" dirty="0">
              <a:solidFill>
                <a:srgbClr val="202020"/>
              </a:solidFill>
              <a:latin typeface="S-Core Dream 3 Light" pitchFamily="34" charset="0"/>
              <a:cs typeface="S-Core Dream 3 Light" pitchFamily="34" charset="0"/>
            </a:endParaRPr>
          </a:p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군집별 특성 파악</a:t>
            </a:r>
          </a:p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판별분석</a:t>
            </a:r>
            <a:endParaRPr lang="en-US" dirty="0"/>
          </a:p>
        </p:txBody>
      </p:sp>
      <p:sp>
        <p:nvSpPr>
          <p:cNvPr id="140" name="Object 140"/>
          <p:cNvSpPr txBox="1"/>
          <p:nvPr/>
        </p:nvSpPr>
        <p:spPr>
          <a:xfrm>
            <a:off x="12780829" y="6768688"/>
            <a:ext cx="4834270" cy="10314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군집별 개별공시지가 예측모델 </a:t>
            </a:r>
          </a:p>
          <a:p>
            <a:r>
              <a:rPr lang="en-US" sz="1600" kern="0" spc="-100" dirty="0">
                <a:solidFill>
                  <a:srgbClr val="202020"/>
                </a:solidFill>
                <a:latin typeface="S-Core Dream 3 Light" pitchFamily="34" charset="0"/>
                <a:cs typeface="S-Core Dream 3 Light" pitchFamily="34" charset="0"/>
              </a:rPr>
              <a:t>피드백 및 개선 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4512" y="-38095"/>
            <a:ext cx="2510235" cy="2143243"/>
            <a:chOff x="-34512" y="-38095"/>
            <a:chExt cx="2510235" cy="214324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4512" y="-38095"/>
              <a:ext cx="2510235" cy="214324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70834" y="1324237"/>
            <a:ext cx="1476935" cy="1494427"/>
            <a:chOff x="1170834" y="1324237"/>
            <a:chExt cx="1476935" cy="1494427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1882191" y="730182"/>
              <a:ext cx="51394" cy="1474109"/>
              <a:chOff x="1882191" y="730182"/>
              <a:chExt cx="51394" cy="1474109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730182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882191" y="850703"/>
              <a:ext cx="51394" cy="1474109"/>
              <a:chOff x="1882191" y="850703"/>
              <a:chExt cx="51394" cy="1474109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850703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882191" y="971224"/>
              <a:ext cx="51394" cy="1474109"/>
              <a:chOff x="1882191" y="971224"/>
              <a:chExt cx="51394" cy="1474109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971224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882191" y="1091745"/>
              <a:ext cx="51394" cy="1474109"/>
              <a:chOff x="1882191" y="1091745"/>
              <a:chExt cx="51394" cy="1474109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091745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882191" y="1332787"/>
              <a:ext cx="51394" cy="1474109"/>
              <a:chOff x="1882191" y="1332787"/>
              <a:chExt cx="51394" cy="1474109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332787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882191" y="1573829"/>
              <a:ext cx="51394" cy="1474109"/>
              <a:chOff x="1882191" y="1573829"/>
              <a:chExt cx="51394" cy="1474109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573829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1882191" y="1814870"/>
              <a:ext cx="51394" cy="1474109"/>
              <a:chOff x="1882191" y="1814870"/>
              <a:chExt cx="51394" cy="1474109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814870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882191" y="1212266"/>
              <a:ext cx="51394" cy="1474109"/>
              <a:chOff x="1882191" y="1212266"/>
              <a:chExt cx="51394" cy="1474109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212266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882191" y="1453308"/>
              <a:ext cx="51394" cy="1474109"/>
              <a:chOff x="1882191" y="1453308"/>
              <a:chExt cx="51394" cy="1474109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453308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882191" y="1694350"/>
              <a:ext cx="51394" cy="1474109"/>
              <a:chOff x="1882191" y="1694350"/>
              <a:chExt cx="51394" cy="1474109"/>
            </a:xfrm>
          </p:grpSpPr>
          <p:pic>
            <p:nvPicPr>
              <p:cNvPr id="34" name="Object 3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694350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1882191" y="1935391"/>
              <a:ext cx="51394" cy="1474109"/>
              <a:chOff x="1882191" y="1935391"/>
              <a:chExt cx="51394" cy="1474109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1935391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4" name="그룹 1014"/>
            <p:cNvGrpSpPr/>
            <p:nvPr/>
          </p:nvGrpSpPr>
          <p:grpSpPr>
            <a:xfrm>
              <a:off x="1882191" y="2055912"/>
              <a:ext cx="51394" cy="1474109"/>
              <a:chOff x="1882191" y="2055912"/>
              <a:chExt cx="51394" cy="1474109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2191" y="2055912"/>
                <a:ext cx="51394" cy="1474109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1885018" y="612880"/>
              <a:ext cx="51394" cy="1474109"/>
              <a:chOff x="1885018" y="612880"/>
              <a:chExt cx="51394" cy="1474109"/>
            </a:xfrm>
          </p:grpSpPr>
          <p:pic>
            <p:nvPicPr>
              <p:cNvPr id="43" name="Object 42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-5400000">
                <a:off x="1885018" y="612880"/>
                <a:ext cx="51394" cy="1474109"/>
              </a:xfrm>
              <a:prstGeom prst="rect">
                <a:avLst/>
              </a:prstGeom>
            </p:spPr>
          </p:pic>
        </p:grpSp>
      </p:grpSp>
      <p:grpSp>
        <p:nvGrpSpPr>
          <p:cNvPr id="1016" name="그룹 1016"/>
          <p:cNvGrpSpPr/>
          <p:nvPr/>
        </p:nvGrpSpPr>
        <p:grpSpPr>
          <a:xfrm>
            <a:off x="15090892" y="5850651"/>
            <a:ext cx="4508822" cy="4446785"/>
            <a:chOff x="15090892" y="5850651"/>
            <a:chExt cx="4508822" cy="4446785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90892" y="5850651"/>
              <a:ext cx="4508822" cy="4446785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0" y="0"/>
            <a:ext cx="18285714" cy="209524"/>
            <a:chOff x="0" y="0"/>
            <a:chExt cx="18285714" cy="209524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18285714" cy="209524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5215661" y="6594747"/>
            <a:ext cx="1880230" cy="1902498"/>
            <a:chOff x="15215661" y="6594747"/>
            <a:chExt cx="1880230" cy="1902498"/>
          </a:xfrm>
        </p:grpSpPr>
        <p:grpSp>
          <p:nvGrpSpPr>
            <p:cNvPr id="1019" name="그룹 1019"/>
            <p:cNvGrpSpPr/>
            <p:nvPr/>
          </p:nvGrpSpPr>
          <p:grpSpPr>
            <a:xfrm>
              <a:off x="16121263" y="5838479"/>
              <a:ext cx="65428" cy="1876631"/>
              <a:chOff x="16121263" y="5838479"/>
              <a:chExt cx="65428" cy="1876631"/>
            </a:xfrm>
          </p:grpSpPr>
          <p:pic>
            <p:nvPicPr>
              <p:cNvPr id="54" name="Object 53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5838479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0" name="그룹 1020"/>
            <p:cNvGrpSpPr/>
            <p:nvPr/>
          </p:nvGrpSpPr>
          <p:grpSpPr>
            <a:xfrm>
              <a:off x="16121263" y="5991910"/>
              <a:ext cx="65428" cy="1876631"/>
              <a:chOff x="16121263" y="5991910"/>
              <a:chExt cx="65428" cy="1876631"/>
            </a:xfrm>
          </p:grpSpPr>
          <p:pic>
            <p:nvPicPr>
              <p:cNvPr id="57" name="Object 5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5991910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1" name="그룹 1021"/>
            <p:cNvGrpSpPr/>
            <p:nvPr/>
          </p:nvGrpSpPr>
          <p:grpSpPr>
            <a:xfrm>
              <a:off x="16121263" y="6145340"/>
              <a:ext cx="65428" cy="1876631"/>
              <a:chOff x="16121263" y="6145340"/>
              <a:chExt cx="65428" cy="1876631"/>
            </a:xfrm>
          </p:grpSpPr>
          <p:pic>
            <p:nvPicPr>
              <p:cNvPr id="60" name="Object 59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145340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2" name="그룹 1022"/>
            <p:cNvGrpSpPr/>
            <p:nvPr/>
          </p:nvGrpSpPr>
          <p:grpSpPr>
            <a:xfrm>
              <a:off x="16121263" y="6298771"/>
              <a:ext cx="65428" cy="1876631"/>
              <a:chOff x="16121263" y="6298771"/>
              <a:chExt cx="65428" cy="1876631"/>
            </a:xfrm>
          </p:grpSpPr>
          <p:pic>
            <p:nvPicPr>
              <p:cNvPr id="63" name="Object 6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298771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3" name="그룹 1023"/>
            <p:cNvGrpSpPr/>
            <p:nvPr/>
          </p:nvGrpSpPr>
          <p:grpSpPr>
            <a:xfrm>
              <a:off x="16121263" y="6605632"/>
              <a:ext cx="65428" cy="1876631"/>
              <a:chOff x="16121263" y="6605632"/>
              <a:chExt cx="65428" cy="1876631"/>
            </a:xfrm>
          </p:grpSpPr>
          <p:pic>
            <p:nvPicPr>
              <p:cNvPr id="66" name="Object 65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605632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4" name="그룹 1024"/>
            <p:cNvGrpSpPr/>
            <p:nvPr/>
          </p:nvGrpSpPr>
          <p:grpSpPr>
            <a:xfrm>
              <a:off x="16121263" y="6912493"/>
              <a:ext cx="65428" cy="1876631"/>
              <a:chOff x="16121263" y="6912493"/>
              <a:chExt cx="65428" cy="1876631"/>
            </a:xfrm>
          </p:grpSpPr>
          <p:pic>
            <p:nvPicPr>
              <p:cNvPr id="69" name="Object 6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912493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5" name="그룹 1025"/>
            <p:cNvGrpSpPr/>
            <p:nvPr/>
          </p:nvGrpSpPr>
          <p:grpSpPr>
            <a:xfrm>
              <a:off x="16121263" y="7219354"/>
              <a:ext cx="65428" cy="1876631"/>
              <a:chOff x="16121263" y="7219354"/>
              <a:chExt cx="65428" cy="1876631"/>
            </a:xfrm>
          </p:grpSpPr>
          <p:pic>
            <p:nvPicPr>
              <p:cNvPr id="72" name="Object 71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219354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6" name="그룹 1026"/>
            <p:cNvGrpSpPr/>
            <p:nvPr/>
          </p:nvGrpSpPr>
          <p:grpSpPr>
            <a:xfrm>
              <a:off x="16121263" y="6452201"/>
              <a:ext cx="65428" cy="1876631"/>
              <a:chOff x="16121263" y="6452201"/>
              <a:chExt cx="65428" cy="1876631"/>
            </a:xfrm>
          </p:grpSpPr>
          <p:pic>
            <p:nvPicPr>
              <p:cNvPr id="75" name="Object 7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452201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7" name="그룹 1027"/>
            <p:cNvGrpSpPr/>
            <p:nvPr/>
          </p:nvGrpSpPr>
          <p:grpSpPr>
            <a:xfrm>
              <a:off x="16121263" y="6759063"/>
              <a:ext cx="65428" cy="1876631"/>
              <a:chOff x="16121263" y="6759063"/>
              <a:chExt cx="65428" cy="1876631"/>
            </a:xfrm>
          </p:grpSpPr>
          <p:pic>
            <p:nvPicPr>
              <p:cNvPr id="78" name="Object 7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6759063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8" name="그룹 1028"/>
            <p:cNvGrpSpPr/>
            <p:nvPr/>
          </p:nvGrpSpPr>
          <p:grpSpPr>
            <a:xfrm>
              <a:off x="16121263" y="7065924"/>
              <a:ext cx="65428" cy="1876631"/>
              <a:chOff x="16121263" y="7065924"/>
              <a:chExt cx="65428" cy="1876631"/>
            </a:xfrm>
          </p:grpSpPr>
          <p:pic>
            <p:nvPicPr>
              <p:cNvPr id="81" name="Object 80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065924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29" name="그룹 1029"/>
            <p:cNvGrpSpPr/>
            <p:nvPr/>
          </p:nvGrpSpPr>
          <p:grpSpPr>
            <a:xfrm>
              <a:off x="16121263" y="7372785"/>
              <a:ext cx="65428" cy="1876631"/>
              <a:chOff x="16121263" y="7372785"/>
              <a:chExt cx="65428" cy="1876631"/>
            </a:xfrm>
          </p:grpSpPr>
          <p:pic>
            <p:nvPicPr>
              <p:cNvPr id="84" name="Object 83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372785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30" name="그룹 1030"/>
            <p:cNvGrpSpPr/>
            <p:nvPr/>
          </p:nvGrpSpPr>
          <p:grpSpPr>
            <a:xfrm>
              <a:off x="16121263" y="7526216"/>
              <a:ext cx="65428" cy="1876631"/>
              <a:chOff x="16121263" y="7526216"/>
              <a:chExt cx="65428" cy="1876631"/>
            </a:xfrm>
          </p:grpSpPr>
          <p:pic>
            <p:nvPicPr>
              <p:cNvPr id="87" name="Object 8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1263" y="7526216"/>
                <a:ext cx="65428" cy="1876631"/>
              </a:xfrm>
              <a:prstGeom prst="rect">
                <a:avLst/>
              </a:prstGeom>
            </p:spPr>
          </p:pic>
        </p:grpSp>
        <p:grpSp>
          <p:nvGrpSpPr>
            <p:cNvPr id="1031" name="그룹 1031"/>
            <p:cNvGrpSpPr/>
            <p:nvPr/>
          </p:nvGrpSpPr>
          <p:grpSpPr>
            <a:xfrm>
              <a:off x="16124861" y="5689146"/>
              <a:ext cx="65428" cy="1876631"/>
              <a:chOff x="16124861" y="5689146"/>
              <a:chExt cx="65428" cy="1876631"/>
            </a:xfrm>
          </p:grpSpPr>
          <p:pic>
            <p:nvPicPr>
              <p:cNvPr id="90" name="Object 89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 rot="-5400000">
                <a:off x="16124861" y="5689146"/>
                <a:ext cx="65428" cy="1876631"/>
              </a:xfrm>
              <a:prstGeom prst="rect">
                <a:avLst/>
              </a:prstGeom>
            </p:spPr>
          </p:pic>
        </p:grpSp>
      </p:grpSp>
      <p:grpSp>
        <p:nvGrpSpPr>
          <p:cNvPr id="1032" name="그룹 1032"/>
          <p:cNvGrpSpPr/>
          <p:nvPr/>
        </p:nvGrpSpPr>
        <p:grpSpPr>
          <a:xfrm>
            <a:off x="0" y="9343101"/>
            <a:ext cx="18285714" cy="999756"/>
            <a:chOff x="0" y="9343101"/>
            <a:chExt cx="18285714" cy="999756"/>
          </a:xfrm>
        </p:grpSpPr>
        <p:pic>
          <p:nvPicPr>
            <p:cNvPr id="94" name="Object 9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9343101"/>
              <a:ext cx="18285714" cy="999756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-1058738" y="3845349"/>
            <a:ext cx="20403190" cy="26168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800" dirty="0">
                <a:solidFill>
                  <a:srgbClr val="404040"/>
                </a:solidFill>
                <a:latin typeface="Pretendard" pitchFamily="34" charset="0"/>
                <a:cs typeface="Pretendard" pitchFamily="34" charset="0"/>
              </a:rPr>
              <a:t>감사합니다</a:t>
            </a:r>
            <a:endParaRPr lang="en-US" dirty="0"/>
          </a:p>
        </p:txBody>
      </p:sp>
      <p:grpSp>
        <p:nvGrpSpPr>
          <p:cNvPr id="1033" name="그룹 1033"/>
          <p:cNvGrpSpPr/>
          <p:nvPr/>
        </p:nvGrpSpPr>
        <p:grpSpPr>
          <a:xfrm>
            <a:off x="7371367" y="3304100"/>
            <a:ext cx="3619048" cy="14286"/>
            <a:chOff x="7371367" y="3304100"/>
            <a:chExt cx="3619048" cy="14286"/>
          </a:xfrm>
        </p:grpSpPr>
        <p:pic>
          <p:nvPicPr>
            <p:cNvPr id="98" name="Object 9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71367" y="3304100"/>
              <a:ext cx="3619048" cy="14286"/>
            </a:xfrm>
            <a:prstGeom prst="rect">
              <a:avLst/>
            </a:prstGeom>
          </p:spPr>
        </p:pic>
      </p:grpSp>
      <p:grpSp>
        <p:nvGrpSpPr>
          <p:cNvPr id="1034" name="그룹 1034"/>
          <p:cNvGrpSpPr/>
          <p:nvPr/>
        </p:nvGrpSpPr>
        <p:grpSpPr>
          <a:xfrm>
            <a:off x="7375661" y="3956070"/>
            <a:ext cx="3619048" cy="17388"/>
            <a:chOff x="7375661" y="3956070"/>
            <a:chExt cx="3619048" cy="17388"/>
          </a:xfrm>
        </p:grpSpPr>
        <p:pic>
          <p:nvPicPr>
            <p:cNvPr id="101" name="Object 10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75661" y="3956070"/>
              <a:ext cx="3619048" cy="17388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6559263" y="3335559"/>
            <a:ext cx="5317382" cy="6323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kern="0" spc="1100" dirty="0">
                <a:solidFill>
                  <a:srgbClr val="404040"/>
                </a:solidFill>
                <a:latin typeface="Pretendard ExtraLight" pitchFamily="34" charset="0"/>
                <a:cs typeface="Pretendard ExtraLight" pitchFamily="34" charset="0"/>
              </a:rPr>
              <a:t>다차원자료분석PBL</a:t>
            </a:r>
            <a:endParaRPr lang="en-US" dirty="0"/>
          </a:p>
        </p:txBody>
      </p:sp>
      <p:sp>
        <p:nvSpPr>
          <p:cNvPr id="104" name="Object 104"/>
          <p:cNvSpPr txBox="1"/>
          <p:nvPr/>
        </p:nvSpPr>
        <p:spPr>
          <a:xfrm>
            <a:off x="4557143" y="8091824"/>
            <a:ext cx="9171429" cy="5857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200" dirty="0">
                <a:solidFill>
                  <a:srgbClr val="404040"/>
                </a:solidFill>
                <a:latin typeface="Pretendard ExtraLight" pitchFamily="34" charset="0"/>
                <a:cs typeface="Pretendard ExtraLight" pitchFamily="34" charset="0"/>
              </a:rPr>
              <a:t>강승배, 이선재, WU XINYUE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366</Words>
  <Application>Microsoft Macintosh PowerPoint</Application>
  <PresentationFormat>사용자 지정</PresentationFormat>
  <Paragraphs>78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맑은 고딕</vt:lpstr>
      <vt:lpstr>Pretendard</vt:lpstr>
      <vt:lpstr>Pretendard ExtraLight</vt:lpstr>
      <vt:lpstr>Pretendard Light</vt:lpstr>
      <vt:lpstr>Pretendard Medium</vt:lpstr>
      <vt:lpstr>S-Core Dream 3 Light</vt:lpstr>
      <vt:lpstr>Arial</vt:lpstr>
      <vt:lpstr>Calibri</vt:lpstr>
      <vt:lpstr>Oswald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이 선재</cp:lastModifiedBy>
  <cp:revision>4</cp:revision>
  <dcterms:created xsi:type="dcterms:W3CDTF">2024-05-16T02:41:38Z</dcterms:created>
  <dcterms:modified xsi:type="dcterms:W3CDTF">2024-05-16T07:23:48Z</dcterms:modified>
</cp:coreProperties>
</file>